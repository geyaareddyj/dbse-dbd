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57" r:id="rId7"/>
    <p:sldId id="258" r:id="rId8"/>
    <p:sldId id="259" r:id="rId9"/>
    <p:sldId id="260" r:id="rId10"/>
    <p:sldId id="261" r:id="rId11"/>
  </p:sldIdLst>
  <p:sldSz cx="18288000" cy="10287000"/>
  <p:notesSz cx="6858000" cy="9144000"/>
  <p:embeddedFontLst>
    <p:embeddedFont>
      <p:font typeface="Calibri (MS) Bold" charset="1" panose="020F0702030404030204"/>
      <p:regular r:id="rId15"/>
    </p:embeddedFont>
    <p:embeddedFont>
      <p:font typeface="Cambria Bold" charset="1" panose="02040803050406030204"/>
      <p:regular r:id="rId16"/>
    </p:embeddedFont>
    <p:embeddedFont>
      <p:font typeface="Calibri (MS) Italics" charset="1" panose="020F05020202040A0204"/>
      <p:regular r:id="rId17"/>
    </p:embeddedFont>
    <p:embeddedFont>
      <p:font typeface="Calibri (MS)" charset="1" panose="020F050202020403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notesMasters/notesMaster1.xml" Type="http://schemas.openxmlformats.org/officeDocument/2006/relationships/notesMaster"/><Relationship Id="rId13" Target="theme/theme2.xml" Type="http://schemas.openxmlformats.org/officeDocument/2006/relationships/theme"/><Relationship Id="rId14" Target="notesSlides/notesSlide1.xml" Type="http://schemas.openxmlformats.org/officeDocument/2006/relationships/note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 — Title.</a:t>
            </a:r>
          </a:p>
          <a:p>
            <a:r>
              <a:rPr lang="en-US"/>
              <a:t>Speaker: Either student.</a:t>
            </a:r>
          </a:p>
          <a:p>
            <a:r>
              <a:rPr lang="en-US"/>
              <a:t>"Good [morning/afternoon] everyone. We are presenting our project proposal for the Database and Backend Management course, titled 'Event and Room Occupancy Management System'. This is a team project by the two of us — [Name 1] and [Name 2]. Over the next few slides, we'll walk you through the problem we identified, the system we plan to build, and the technology behind it."</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2 — Problem Statement.</a:t>
            </a:r>
          </a:p>
          <a:p>
            <a:r>
              <a:rPr lang="en-US"/>
              <a:t>Speaker: Student 1.</a:t>
            </a:r>
          </a:p>
          <a:p>
            <a:r>
              <a:rPr lang="en-US"/>
              <a:t>"Every college campus deals with two related problems. First, students often don't know which rooms are free during the day — there's no shared way to check availability, so people waste time searching or double-book spaces by accident. Second, on the event side, things like hackathons or workshops often get extra 'spot registrations' on the day itself, so the number of people who actually show up is higher than what was planned for. Together, these two issues cause overcrowding, scheduling clashes, and rooms that are used inefficiently across the college."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3 — Proposed Solution.</a:t>
            </a:r>
          </a:p>
          <a:p>
            <a:r>
              <a:rPr lang="en-US"/>
              <a:t>Speaker: Student 1 (continues) or hands off to Student 2.</a:t>
            </a:r>
          </a:p>
          <a:p>
            <a:r>
              <a:rPr lang="en-US"/>
              <a:t>"To address this, we propose building a centralized, web-based platform. Instead of coordinating rooms and events manually — over calls, notice boards, or spreadsheets — everything will live in one system. On the left of each row is the problem we just described, and on the right is how our proposed system responds to it: real-time room visibility, live tracking of expected versus actual attendees, and automatic checks that catch conflicts before a booking is confirmed. We want to stress this is proposed functionality — we're describing what the system will do once built, not something already working."</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4 — Key Features.</a:t>
            </a:r>
          </a:p>
          <a:p>
            <a:r>
              <a:rPr lang="en-US"/>
              <a:t>Speaker: Student 2.</a:t>
            </a:r>
          </a:p>
          <a:p>
            <a:r>
              <a:rPr lang="en-US"/>
              <a:t>"We're planning two sets of functionality, based on who is using the system. Regular students and event participants will be able to view room availability and schedules, browse and register for events, and see how registration numbers compare to what was expected. Administrators — likely faculty coordinators or the events team — will have additional control: creating and managing events, approving room bookings, updating real occupancy numbers, and most importantly, the system will flag or block a booking automatically if there's a capacity or timing conflict."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 System Architecture / Technology Stack.</a:t>
            </a:r>
          </a:p>
          <a:p>
            <a:r>
              <a:rPr lang="en-US"/>
              <a:t>Speaker: Student 2 (continues) or hands off to Student 1.</a:t>
            </a:r>
          </a:p>
          <a:p>
            <a:r>
              <a:rPr lang="en-US"/>
              <a:t>"Architecturally, we're keeping this simple and standard for a project of this scope — three layers. React.js will power the frontend that students and admins interact with. Node.js with Express.js will form our backend, exposing REST APIs and handling logic like conflict detection. And MySQL will be our relational database, storing all the core data. Alongside this, we'll use MySQL Workbench for schema design, Postman to test our APIs as we build them, VS Code for development, and Git and GitHub to manage our code as a two-person team."</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7 — Expected Outcome &amp; Future Scope.</a:t>
            </a:r>
          </a:p>
          <a:p>
            <a:r>
              <a:rPr lang="en-US"/>
              <a:t>Speaker: Student 2 (closing).</a:t>
            </a:r>
          </a:p>
          <a:p>
            <a:r>
              <a:rPr lang="en-US"/>
              <a:t>"To summarize what we expect this system to achieve: better utilization of existing rooms, fewer scheduling conflicts, more accurate handling of event registrations and occupancy, and one centralized place to manage all of this instead of scattered manual processes. Looking further ahead, once the core system is stable, we see room to add features like automated notifications, analytics dashboards to spot usage trends, and reporting tools to support longer-term space planning for the college. That covers our proposal — happy to take any questions."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 Id="rId4" Target="../media/image13.png" Type="http://schemas.openxmlformats.org/officeDocument/2006/relationships/image"/><Relationship Id="rId5" Target="../media/image5.png" Type="http://schemas.openxmlformats.org/officeDocument/2006/relationships/image"/><Relationship Id="rId6" Target="../media/image4.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375A"/>
        </a:solidFill>
      </p:bgPr>
    </p:bg>
    <p:spTree>
      <p:nvGrpSpPr>
        <p:cNvPr id="1" name=""/>
        <p:cNvGrpSpPr/>
        <p:nvPr/>
      </p:nvGrpSpPr>
      <p:grpSpPr>
        <a:xfrm>
          <a:off x="0" y="0"/>
          <a:ext cx="0" cy="0"/>
          <a:chOff x="0" y="0"/>
          <a:chExt cx="0" cy="0"/>
        </a:xfrm>
      </p:grpSpPr>
      <p:grpSp>
        <p:nvGrpSpPr>
          <p:cNvPr name="Group 2" id="2"/>
          <p:cNvGrpSpPr/>
          <p:nvPr/>
        </p:nvGrpSpPr>
        <p:grpSpPr>
          <a:xfrm rot="1200000">
            <a:off x="13304520" y="-164592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731520"/>
                  </a:moveTo>
                  <a:cubicBezTo>
                    <a:pt x="0" y="327533"/>
                    <a:pt x="327533" y="0"/>
                    <a:pt x="731520" y="0"/>
                  </a:cubicBezTo>
                  <a:lnTo>
                    <a:pt x="9326880" y="0"/>
                  </a:lnTo>
                  <a:cubicBezTo>
                    <a:pt x="9730867" y="0"/>
                    <a:pt x="10058400" y="327533"/>
                    <a:pt x="10058400" y="731520"/>
                  </a:cubicBezTo>
                  <a:lnTo>
                    <a:pt x="10058400" y="9326880"/>
                  </a:lnTo>
                  <a:cubicBezTo>
                    <a:pt x="10058400" y="9730867"/>
                    <a:pt x="9730867" y="10058400"/>
                    <a:pt x="9326880" y="10058400"/>
                  </a:cubicBezTo>
                  <a:lnTo>
                    <a:pt x="731520" y="10058400"/>
                  </a:lnTo>
                  <a:cubicBezTo>
                    <a:pt x="327533" y="10058400"/>
                    <a:pt x="0" y="9730867"/>
                    <a:pt x="0" y="9326880"/>
                  </a:cubicBezTo>
                  <a:close/>
                </a:path>
              </a:pathLst>
            </a:custGeom>
            <a:solidFill>
              <a:srgbClr val="028090">
                <a:alpha val="15686"/>
              </a:srgbClr>
            </a:solidFill>
          </p:spPr>
        </p:sp>
      </p:grpSp>
      <p:grpSp>
        <p:nvGrpSpPr>
          <p:cNvPr name="Group 4" id="4"/>
          <p:cNvGrpSpPr/>
          <p:nvPr/>
        </p:nvGrpSpPr>
        <p:grpSpPr>
          <a:xfrm rot="720000">
            <a:off x="14813280" y="630936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731520"/>
                  </a:moveTo>
                  <a:cubicBezTo>
                    <a:pt x="0" y="327533"/>
                    <a:pt x="327533" y="0"/>
                    <a:pt x="731520" y="0"/>
                  </a:cubicBezTo>
                  <a:lnTo>
                    <a:pt x="5852160" y="0"/>
                  </a:lnTo>
                  <a:cubicBezTo>
                    <a:pt x="6256147" y="0"/>
                    <a:pt x="6583680" y="327533"/>
                    <a:pt x="6583680" y="731520"/>
                  </a:cubicBezTo>
                  <a:lnTo>
                    <a:pt x="6583680" y="5852160"/>
                  </a:lnTo>
                  <a:cubicBezTo>
                    <a:pt x="6583680" y="6256147"/>
                    <a:pt x="6256147" y="6583680"/>
                    <a:pt x="5852160" y="6583680"/>
                  </a:cubicBezTo>
                  <a:lnTo>
                    <a:pt x="731520" y="6583680"/>
                  </a:lnTo>
                  <a:cubicBezTo>
                    <a:pt x="327533" y="6583680"/>
                    <a:pt x="0" y="6256147"/>
                    <a:pt x="0" y="5852160"/>
                  </a:cubicBezTo>
                  <a:close/>
                </a:path>
              </a:pathLst>
            </a:custGeom>
            <a:solidFill>
              <a:srgbClr val="02C39A">
                <a:alpha val="8627"/>
              </a:srgbClr>
            </a:solidFill>
          </p:spPr>
        </p:sp>
      </p:grpSp>
      <p:grpSp>
        <p:nvGrpSpPr>
          <p:cNvPr name="Group 6" id="6"/>
          <p:cNvGrpSpPr/>
          <p:nvPr/>
        </p:nvGrpSpPr>
        <p:grpSpPr>
          <a:xfrm rot="0">
            <a:off x="1234440" y="970313"/>
            <a:ext cx="1234440" cy="1234440"/>
            <a:chOff x="0" y="0"/>
            <a:chExt cx="1645920" cy="1645920"/>
          </a:xfrm>
        </p:grpSpPr>
        <p:sp>
          <p:nvSpPr>
            <p:cNvPr name="Freeform 7" id="7"/>
            <p:cNvSpPr/>
            <p:nvPr/>
          </p:nvSpPr>
          <p:spPr>
            <a:xfrm flipH="false" flipV="false" rot="0">
              <a:off x="0" y="0"/>
              <a:ext cx="1645920" cy="1645920"/>
            </a:xfrm>
            <a:custGeom>
              <a:avLst/>
              <a:gdLst/>
              <a:ahLst/>
              <a:cxnLst/>
              <a:rect r="r" b="b" t="t" l="l"/>
              <a:pathLst>
                <a:path h="1645920" w="1645920">
                  <a:moveTo>
                    <a:pt x="0" y="329184"/>
                  </a:moveTo>
                  <a:cubicBezTo>
                    <a:pt x="0" y="147320"/>
                    <a:pt x="147320" y="0"/>
                    <a:pt x="329184" y="0"/>
                  </a:cubicBezTo>
                  <a:lnTo>
                    <a:pt x="1316736" y="0"/>
                  </a:lnTo>
                  <a:cubicBezTo>
                    <a:pt x="1498600" y="0"/>
                    <a:pt x="1645920" y="147320"/>
                    <a:pt x="1645920" y="329184"/>
                  </a:cubicBezTo>
                  <a:lnTo>
                    <a:pt x="1645920" y="1316736"/>
                  </a:lnTo>
                  <a:cubicBezTo>
                    <a:pt x="1645920" y="1498600"/>
                    <a:pt x="1498600" y="1645920"/>
                    <a:pt x="1316736" y="1645920"/>
                  </a:cubicBezTo>
                  <a:lnTo>
                    <a:pt x="329184" y="1645920"/>
                  </a:lnTo>
                  <a:cubicBezTo>
                    <a:pt x="147320" y="1645920"/>
                    <a:pt x="0" y="1498600"/>
                    <a:pt x="0" y="1316736"/>
                  </a:cubicBezTo>
                  <a:close/>
                </a:path>
              </a:pathLst>
            </a:custGeom>
            <a:solidFill>
              <a:srgbClr val="028090"/>
            </a:solidFill>
          </p:spPr>
        </p:sp>
      </p:grpSp>
      <p:grpSp>
        <p:nvGrpSpPr>
          <p:cNvPr name="Group 8" id="8"/>
          <p:cNvGrpSpPr/>
          <p:nvPr/>
        </p:nvGrpSpPr>
        <p:grpSpPr>
          <a:xfrm rot="0">
            <a:off x="1536192" y="1272065"/>
            <a:ext cx="630936" cy="630936"/>
            <a:chOff x="0" y="0"/>
            <a:chExt cx="841248" cy="841248"/>
          </a:xfrm>
        </p:grpSpPr>
        <p:sp>
          <p:nvSpPr>
            <p:cNvPr name="Freeform 9" id="9" descr="/home/claude/proj/icons/database_white.png"/>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lnTo>
                    <a:pt x="0" y="0"/>
                  </a:lnTo>
                  <a:close/>
                </a:path>
              </a:pathLst>
            </a:custGeom>
            <a:blipFill>
              <a:blip r:embed="rId3"/>
              <a:stretch>
                <a:fillRect l="0" t="0" r="0" b="0"/>
              </a:stretch>
            </a:blipFill>
          </p:spPr>
        </p:sp>
      </p:grpSp>
      <p:grpSp>
        <p:nvGrpSpPr>
          <p:cNvPr name="Group 10" id="10"/>
          <p:cNvGrpSpPr/>
          <p:nvPr/>
        </p:nvGrpSpPr>
        <p:grpSpPr>
          <a:xfrm rot="0">
            <a:off x="1227296" y="2518697"/>
            <a:ext cx="14401800" cy="781144"/>
            <a:chOff x="0" y="0"/>
            <a:chExt cx="19202400" cy="1041525"/>
          </a:xfrm>
        </p:grpSpPr>
        <p:sp>
          <p:nvSpPr>
            <p:cNvPr name="Freeform 11" id="11"/>
            <p:cNvSpPr/>
            <p:nvPr/>
          </p:nvSpPr>
          <p:spPr>
            <a:xfrm flipH="false" flipV="false" rot="0">
              <a:off x="0" y="0"/>
              <a:ext cx="19202400" cy="1041525"/>
            </a:xfrm>
            <a:custGeom>
              <a:avLst/>
              <a:gdLst/>
              <a:ahLst/>
              <a:cxnLst/>
              <a:rect r="r" b="b" t="t" l="l"/>
              <a:pathLst>
                <a:path h="1041525" w="19202400">
                  <a:moveTo>
                    <a:pt x="0" y="0"/>
                  </a:moveTo>
                  <a:lnTo>
                    <a:pt x="19202400" y="0"/>
                  </a:lnTo>
                  <a:lnTo>
                    <a:pt x="19202400" y="1041525"/>
                  </a:lnTo>
                  <a:lnTo>
                    <a:pt x="0" y="1041525"/>
                  </a:lnTo>
                  <a:close/>
                </a:path>
              </a:pathLst>
            </a:custGeom>
            <a:blipFill>
              <a:blip r:embed="rId4">
                <a:alphaModFix amt="0"/>
              </a:blip>
              <a:stretch>
                <a:fillRect l="0" t="-328513" r="0" b="-289969"/>
              </a:stretch>
            </a:blipFill>
          </p:spPr>
        </p:sp>
        <p:sp>
          <p:nvSpPr>
            <p:cNvPr name="TextBox 12" id="12"/>
            <p:cNvSpPr txBox="true"/>
            <p:nvPr/>
          </p:nvSpPr>
          <p:spPr>
            <a:xfrm>
              <a:off x="0" y="-47625"/>
              <a:ext cx="19202400" cy="1089150"/>
            </a:xfrm>
            <a:prstGeom prst="rect">
              <a:avLst/>
            </a:prstGeom>
          </p:spPr>
          <p:txBody>
            <a:bodyPr anchor="ctr" rtlCol="false" tIns="0" lIns="0" bIns="0" rIns="0"/>
            <a:lstStyle/>
            <a:p>
              <a:pPr algn="l">
                <a:lnSpc>
                  <a:spcPts val="2340"/>
                </a:lnSpc>
              </a:pPr>
              <a:r>
                <a:rPr lang="en-US" b="true" sz="1950" spc="299">
                  <a:solidFill>
                    <a:srgbClr val="02C39A"/>
                  </a:solidFill>
                  <a:latin typeface="Calibri (MS) Bold"/>
                  <a:ea typeface="Calibri (MS) Bold"/>
                  <a:cs typeface="Calibri (MS) Bold"/>
                  <a:sym typeface="Calibri (MS) Bold"/>
                </a:rPr>
                <a:t>DATABASE AND BACKEND MANAGEMENT — Section 10</a:t>
              </a:r>
            </a:p>
          </p:txBody>
        </p:sp>
      </p:grpSp>
      <p:grpSp>
        <p:nvGrpSpPr>
          <p:cNvPr name="Group 13" id="13"/>
          <p:cNvGrpSpPr/>
          <p:nvPr/>
        </p:nvGrpSpPr>
        <p:grpSpPr>
          <a:xfrm rot="0">
            <a:off x="1227296" y="2882012"/>
            <a:ext cx="15361920" cy="2606040"/>
            <a:chOff x="0" y="0"/>
            <a:chExt cx="20482560" cy="3474720"/>
          </a:xfrm>
        </p:grpSpPr>
        <p:sp>
          <p:nvSpPr>
            <p:cNvPr name="Freeform 14" id="14"/>
            <p:cNvSpPr/>
            <p:nvPr/>
          </p:nvSpPr>
          <p:spPr>
            <a:xfrm flipH="false" flipV="false" rot="0">
              <a:off x="0" y="0"/>
              <a:ext cx="20482561" cy="3474720"/>
            </a:xfrm>
            <a:custGeom>
              <a:avLst/>
              <a:gdLst/>
              <a:ahLst/>
              <a:cxnLst/>
              <a:rect r="r" b="b" t="t" l="l"/>
              <a:pathLst>
                <a:path h="3474720" w="20482561">
                  <a:moveTo>
                    <a:pt x="0" y="0"/>
                  </a:moveTo>
                  <a:lnTo>
                    <a:pt x="20482561" y="0"/>
                  </a:lnTo>
                  <a:lnTo>
                    <a:pt x="20482561" y="3474720"/>
                  </a:lnTo>
                  <a:lnTo>
                    <a:pt x="0" y="3474720"/>
                  </a:lnTo>
                  <a:close/>
                </a:path>
              </a:pathLst>
            </a:custGeom>
            <a:blipFill>
              <a:blip r:embed="rId4">
                <a:alphaModFix amt="0"/>
              </a:blip>
              <a:stretch>
                <a:fillRect l="0" t="-64859" r="0" b="-64859"/>
              </a:stretch>
            </a:blipFill>
          </p:spPr>
        </p:sp>
        <p:sp>
          <p:nvSpPr>
            <p:cNvPr name="TextBox 15" id="15"/>
            <p:cNvSpPr txBox="true"/>
            <p:nvPr/>
          </p:nvSpPr>
          <p:spPr>
            <a:xfrm>
              <a:off x="0" y="-57150"/>
              <a:ext cx="20482560" cy="3531870"/>
            </a:xfrm>
            <a:prstGeom prst="rect">
              <a:avLst/>
            </a:prstGeom>
          </p:spPr>
          <p:txBody>
            <a:bodyPr anchor="ctr" rtlCol="false" tIns="0" lIns="0" bIns="0" rIns="0"/>
            <a:lstStyle/>
            <a:p>
              <a:pPr algn="l">
                <a:lnSpc>
                  <a:spcPts val="7776"/>
                </a:lnSpc>
              </a:pPr>
              <a:r>
                <a:rPr lang="en-US" sz="6000" b="true">
                  <a:solidFill>
                    <a:srgbClr val="FFFFFF"/>
                  </a:solidFill>
                  <a:latin typeface="Cambria Bold"/>
                  <a:ea typeface="Cambria Bold"/>
                  <a:cs typeface="Cambria Bold"/>
                  <a:sym typeface="Cambria Bold"/>
                </a:rPr>
                <a:t>Event and Room Occupancy</a:t>
              </a:r>
            </a:p>
            <a:p>
              <a:pPr algn="l">
                <a:lnSpc>
                  <a:spcPts val="7776"/>
                </a:lnSpc>
              </a:pPr>
              <a:r>
                <a:rPr lang="en-US" sz="6000" b="true">
                  <a:solidFill>
                    <a:srgbClr val="FFFFFF"/>
                  </a:solidFill>
                  <a:latin typeface="Cambria Bold"/>
                  <a:ea typeface="Cambria Bold"/>
                  <a:cs typeface="Cambria Bold"/>
                  <a:sym typeface="Cambria Bold"/>
                </a:rPr>
                <a:t>Management System</a:t>
              </a:r>
            </a:p>
          </p:txBody>
        </p:sp>
      </p:grpSp>
      <p:grpSp>
        <p:nvGrpSpPr>
          <p:cNvPr name="Group 16" id="16"/>
          <p:cNvGrpSpPr/>
          <p:nvPr/>
        </p:nvGrpSpPr>
        <p:grpSpPr>
          <a:xfrm rot="0">
            <a:off x="1028700" y="5488052"/>
            <a:ext cx="13441680" cy="685800"/>
            <a:chOff x="0" y="0"/>
            <a:chExt cx="17922240" cy="914400"/>
          </a:xfrm>
        </p:grpSpPr>
        <p:sp>
          <p:nvSpPr>
            <p:cNvPr name="Freeform 17" id="17"/>
            <p:cNvSpPr/>
            <p:nvPr/>
          </p:nvSpPr>
          <p:spPr>
            <a:xfrm flipH="false" flipV="false" rot="0">
              <a:off x="0" y="0"/>
              <a:ext cx="17922239" cy="914400"/>
            </a:xfrm>
            <a:custGeom>
              <a:avLst/>
              <a:gdLst/>
              <a:ahLst/>
              <a:cxnLst/>
              <a:rect r="r" b="b" t="t" l="l"/>
              <a:pathLst>
                <a:path h="914400" w="17922239">
                  <a:moveTo>
                    <a:pt x="0" y="0"/>
                  </a:moveTo>
                  <a:lnTo>
                    <a:pt x="17922239" y="0"/>
                  </a:lnTo>
                  <a:lnTo>
                    <a:pt x="17922239" y="914400"/>
                  </a:lnTo>
                  <a:lnTo>
                    <a:pt x="0" y="914400"/>
                  </a:lnTo>
                  <a:close/>
                </a:path>
              </a:pathLst>
            </a:custGeom>
            <a:blipFill>
              <a:blip r:embed="rId4">
                <a:alphaModFix amt="0"/>
              </a:blip>
              <a:stretch>
                <a:fillRect l="0" t="-331906" r="0" b="-331906"/>
              </a:stretch>
            </a:blipFill>
          </p:spPr>
        </p:sp>
        <p:sp>
          <p:nvSpPr>
            <p:cNvPr name="TextBox 18" id="18"/>
            <p:cNvSpPr txBox="true"/>
            <p:nvPr/>
          </p:nvSpPr>
          <p:spPr>
            <a:xfrm>
              <a:off x="0" y="-57150"/>
              <a:ext cx="17922240" cy="971550"/>
            </a:xfrm>
            <a:prstGeom prst="rect">
              <a:avLst/>
            </a:prstGeom>
          </p:spPr>
          <p:txBody>
            <a:bodyPr anchor="ctr" rtlCol="false" tIns="0" lIns="0" bIns="0" rIns="0"/>
            <a:lstStyle/>
            <a:p>
              <a:pPr algn="l">
                <a:lnSpc>
                  <a:spcPts val="2700"/>
                </a:lnSpc>
              </a:pPr>
              <a:r>
                <a:rPr lang="en-US" sz="2250" i="true">
                  <a:solidFill>
                    <a:srgbClr val="CFE7EA"/>
                  </a:solidFill>
                  <a:latin typeface="Calibri (MS) Italics"/>
                  <a:ea typeface="Calibri (MS) Italics"/>
                  <a:cs typeface="Calibri (MS) Italics"/>
                  <a:sym typeface="Calibri (MS) Italics"/>
                </a:rPr>
                <a:t>A centralized web platform for smarter room and event management on campus</a:t>
              </a:r>
            </a:p>
          </p:txBody>
        </p:sp>
      </p:grpSp>
      <p:grpSp>
        <p:nvGrpSpPr>
          <p:cNvPr name="Group 19" id="19"/>
          <p:cNvGrpSpPr/>
          <p:nvPr/>
        </p:nvGrpSpPr>
        <p:grpSpPr>
          <a:xfrm rot="0">
            <a:off x="1158716" y="6574631"/>
            <a:ext cx="9066848" cy="2203609"/>
            <a:chOff x="0" y="0"/>
            <a:chExt cx="12089130" cy="2938145"/>
          </a:xfrm>
        </p:grpSpPr>
        <p:sp>
          <p:nvSpPr>
            <p:cNvPr name="Freeform 20" id="20"/>
            <p:cNvSpPr/>
            <p:nvPr/>
          </p:nvSpPr>
          <p:spPr>
            <a:xfrm flipH="false" flipV="false" rot="0">
              <a:off x="0" y="0"/>
              <a:ext cx="12089130" cy="2938145"/>
            </a:xfrm>
            <a:custGeom>
              <a:avLst/>
              <a:gdLst/>
              <a:ahLst/>
              <a:cxnLst/>
              <a:rect r="r" b="b" t="t" l="l"/>
              <a:pathLst>
                <a:path h="2938145" w="12089130">
                  <a:moveTo>
                    <a:pt x="0" y="261118"/>
                  </a:moveTo>
                  <a:cubicBezTo>
                    <a:pt x="0" y="116986"/>
                    <a:pt x="99060" y="0"/>
                    <a:pt x="221107" y="0"/>
                  </a:cubicBezTo>
                  <a:lnTo>
                    <a:pt x="11868023" y="0"/>
                  </a:lnTo>
                  <a:cubicBezTo>
                    <a:pt x="11990197" y="0"/>
                    <a:pt x="12089130" y="116986"/>
                    <a:pt x="12089130" y="261118"/>
                  </a:cubicBezTo>
                  <a:lnTo>
                    <a:pt x="12089130" y="2677027"/>
                  </a:lnTo>
                  <a:cubicBezTo>
                    <a:pt x="12089130" y="2821309"/>
                    <a:pt x="11990070" y="2938145"/>
                    <a:pt x="11868023" y="2938145"/>
                  </a:cubicBezTo>
                  <a:lnTo>
                    <a:pt x="221107" y="2938145"/>
                  </a:lnTo>
                  <a:cubicBezTo>
                    <a:pt x="99060" y="2938145"/>
                    <a:pt x="0" y="2821159"/>
                    <a:pt x="0" y="2677027"/>
                  </a:cubicBezTo>
                  <a:close/>
                </a:path>
              </a:pathLst>
            </a:custGeom>
            <a:solidFill>
              <a:srgbClr val="FFFFFF">
                <a:alpha val="392"/>
              </a:srgbClr>
            </a:solidFill>
            <a:ln w="14288" cap="sq">
              <a:solidFill>
                <a:srgbClr val="00A896"/>
              </a:solidFill>
              <a:prstDash val="solid"/>
              <a:miter/>
            </a:ln>
          </p:spPr>
        </p:sp>
      </p:grpSp>
      <p:grpSp>
        <p:nvGrpSpPr>
          <p:cNvPr name="Group 21" id="21"/>
          <p:cNvGrpSpPr/>
          <p:nvPr/>
        </p:nvGrpSpPr>
        <p:grpSpPr>
          <a:xfrm rot="0">
            <a:off x="1536192" y="6664682"/>
            <a:ext cx="2743200" cy="591581"/>
            <a:chOff x="0" y="0"/>
            <a:chExt cx="3657600" cy="788775"/>
          </a:xfrm>
        </p:grpSpPr>
        <p:sp>
          <p:nvSpPr>
            <p:cNvPr name="Freeform 22" id="22"/>
            <p:cNvSpPr/>
            <p:nvPr/>
          </p:nvSpPr>
          <p:spPr>
            <a:xfrm flipH="false" flipV="false" rot="0">
              <a:off x="0" y="0"/>
              <a:ext cx="3657600" cy="788775"/>
            </a:xfrm>
            <a:custGeom>
              <a:avLst/>
              <a:gdLst/>
              <a:ahLst/>
              <a:cxnLst/>
              <a:rect r="r" b="b" t="t" l="l"/>
              <a:pathLst>
                <a:path h="788775" w="3657600">
                  <a:moveTo>
                    <a:pt x="0" y="0"/>
                  </a:moveTo>
                  <a:lnTo>
                    <a:pt x="3657600" y="0"/>
                  </a:lnTo>
                  <a:lnTo>
                    <a:pt x="3657600" y="788775"/>
                  </a:lnTo>
                  <a:lnTo>
                    <a:pt x="0" y="788775"/>
                  </a:lnTo>
                  <a:close/>
                </a:path>
              </a:pathLst>
            </a:custGeom>
            <a:blipFill>
              <a:blip r:embed="rId4">
                <a:alphaModFix amt="0"/>
              </a:blip>
              <a:stretch>
                <a:fillRect l="0" t="-55575" r="0" b="-25131"/>
              </a:stretch>
            </a:blipFill>
          </p:spPr>
        </p:sp>
        <p:sp>
          <p:nvSpPr>
            <p:cNvPr name="TextBox 23" id="23"/>
            <p:cNvSpPr txBox="true"/>
            <p:nvPr/>
          </p:nvSpPr>
          <p:spPr>
            <a:xfrm>
              <a:off x="0" y="-38100"/>
              <a:ext cx="3657600" cy="826875"/>
            </a:xfrm>
            <a:prstGeom prst="rect">
              <a:avLst/>
            </a:prstGeom>
          </p:spPr>
          <p:txBody>
            <a:bodyPr anchor="ctr" rtlCol="false" tIns="0" lIns="0" bIns="0" rIns="0"/>
            <a:lstStyle/>
            <a:p>
              <a:pPr algn="l">
                <a:lnSpc>
                  <a:spcPts val="2039"/>
                </a:lnSpc>
              </a:pPr>
              <a:r>
                <a:rPr lang="en-US" b="true" sz="1699" spc="339">
                  <a:solidFill>
                    <a:srgbClr val="02C39A"/>
                  </a:solidFill>
                  <a:latin typeface="Calibri (MS) Bold"/>
                  <a:ea typeface="Calibri (MS) Bold"/>
                  <a:cs typeface="Calibri (MS) Bold"/>
                  <a:sym typeface="Calibri (MS) Bold"/>
                </a:rPr>
                <a:t>TEAM - 1</a:t>
              </a:r>
            </a:p>
          </p:txBody>
        </p:sp>
      </p:grpSp>
      <p:grpSp>
        <p:nvGrpSpPr>
          <p:cNvPr name="Group 24" id="24"/>
          <p:cNvGrpSpPr/>
          <p:nvPr/>
        </p:nvGrpSpPr>
        <p:grpSpPr>
          <a:xfrm rot="0">
            <a:off x="1536192" y="7785337"/>
            <a:ext cx="8229600" cy="761524"/>
            <a:chOff x="0" y="0"/>
            <a:chExt cx="10972800" cy="1015365"/>
          </a:xfrm>
        </p:grpSpPr>
        <p:sp>
          <p:nvSpPr>
            <p:cNvPr name="Freeform 25" id="25"/>
            <p:cNvSpPr/>
            <p:nvPr/>
          </p:nvSpPr>
          <p:spPr>
            <a:xfrm flipH="false" flipV="false" rot="0">
              <a:off x="0" y="0"/>
              <a:ext cx="10972800" cy="1015365"/>
            </a:xfrm>
            <a:custGeom>
              <a:avLst/>
              <a:gdLst/>
              <a:ahLst/>
              <a:cxnLst/>
              <a:rect r="r" b="b" t="t" l="l"/>
              <a:pathLst>
                <a:path h="1015365" w="10972800">
                  <a:moveTo>
                    <a:pt x="0" y="0"/>
                  </a:moveTo>
                  <a:lnTo>
                    <a:pt x="10972800" y="0"/>
                  </a:lnTo>
                  <a:lnTo>
                    <a:pt x="10972800" y="1015365"/>
                  </a:lnTo>
                  <a:lnTo>
                    <a:pt x="0" y="1015365"/>
                  </a:lnTo>
                  <a:close/>
                </a:path>
              </a:pathLst>
            </a:custGeom>
            <a:blipFill>
              <a:blip r:embed="rId4">
                <a:alphaModFix amt="0"/>
              </a:blip>
              <a:stretch>
                <a:fillRect l="0" t="-179050" r="0" b="-142089"/>
              </a:stretch>
            </a:blipFill>
          </p:spPr>
        </p:sp>
        <p:sp>
          <p:nvSpPr>
            <p:cNvPr name="TextBox 26" id="26"/>
            <p:cNvSpPr txBox="true"/>
            <p:nvPr/>
          </p:nvSpPr>
          <p:spPr>
            <a:xfrm>
              <a:off x="0" y="-47625"/>
              <a:ext cx="10972800" cy="1062990"/>
            </a:xfrm>
            <a:prstGeom prst="rect">
              <a:avLst/>
            </a:prstGeom>
          </p:spPr>
          <p:txBody>
            <a:bodyPr anchor="ctr" rtlCol="false" tIns="0" lIns="0" bIns="0" rIns="0"/>
            <a:lstStyle/>
            <a:p>
              <a:pPr algn="l">
                <a:lnSpc>
                  <a:spcPts val="2699"/>
                </a:lnSpc>
              </a:pPr>
              <a:r>
                <a:rPr lang="en-US" sz="2249">
                  <a:solidFill>
                    <a:srgbClr val="CFE7EA"/>
                  </a:solidFill>
                  <a:latin typeface="Calibri (MS)"/>
                  <a:ea typeface="Calibri (MS)"/>
                  <a:cs typeface="Calibri (MS)"/>
                  <a:sym typeface="Calibri (MS)"/>
                </a:rPr>
                <a:t>2520090001</a:t>
              </a:r>
              <a:r>
                <a:rPr lang="en-US" sz="2249">
                  <a:solidFill>
                    <a:srgbClr val="CFE7EA"/>
                  </a:solidFill>
                  <a:latin typeface="Calibri (MS)"/>
                  <a:ea typeface="Calibri (MS)"/>
                  <a:cs typeface="Calibri (MS)"/>
                  <a:sym typeface="Calibri (MS)"/>
                </a:rPr>
                <a:t>  •   Kamtam Priyanka</a:t>
              </a:r>
            </a:p>
          </p:txBody>
        </p:sp>
      </p:grpSp>
      <p:grpSp>
        <p:nvGrpSpPr>
          <p:cNvPr name="Group 27" id="27"/>
          <p:cNvGrpSpPr/>
          <p:nvPr/>
        </p:nvGrpSpPr>
        <p:grpSpPr>
          <a:xfrm rot="0">
            <a:off x="1234440" y="9669780"/>
            <a:ext cx="10972800" cy="411480"/>
            <a:chOff x="0" y="0"/>
            <a:chExt cx="14630400" cy="548640"/>
          </a:xfrm>
        </p:grpSpPr>
        <p:sp>
          <p:nvSpPr>
            <p:cNvPr name="Freeform 28" id="2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4">
                <a:alphaModFix amt="0"/>
              </a:blip>
              <a:stretch>
                <a:fillRect l="0" t="-469601" r="0" b="-469601"/>
              </a:stretch>
            </a:blipFill>
          </p:spPr>
        </p:sp>
        <p:sp>
          <p:nvSpPr>
            <p:cNvPr name="TextBox 29" id="29"/>
            <p:cNvSpPr txBox="true"/>
            <p:nvPr/>
          </p:nvSpPr>
          <p:spPr>
            <a:xfrm>
              <a:off x="0" y="-28575"/>
              <a:ext cx="14630400" cy="577215"/>
            </a:xfrm>
            <a:prstGeom prst="rect">
              <a:avLst/>
            </a:prstGeom>
          </p:spPr>
          <p:txBody>
            <a:bodyPr anchor="ctr" rtlCol="false" tIns="0" lIns="0" bIns="0" rIns="0"/>
            <a:lstStyle/>
            <a:p>
              <a:pPr algn="l">
                <a:lnSpc>
                  <a:spcPts val="1980"/>
                </a:lnSpc>
              </a:pPr>
              <a:r>
                <a:rPr lang="en-US" sz="1650">
                  <a:solidFill>
                    <a:srgbClr val="8FB6BC"/>
                  </a:solidFill>
                  <a:latin typeface="Calibri (MS)"/>
                  <a:ea typeface="Calibri (MS)"/>
                  <a:cs typeface="Calibri (MS)"/>
                  <a:sym typeface="Calibri (MS)"/>
                </a:rPr>
                <a:t>B.Tech — Database and Backend Management</a:t>
              </a:r>
            </a:p>
          </p:txBody>
        </p:sp>
      </p:grpSp>
      <p:grpSp>
        <p:nvGrpSpPr>
          <p:cNvPr name="Group 30" id="30"/>
          <p:cNvGrpSpPr/>
          <p:nvPr/>
        </p:nvGrpSpPr>
        <p:grpSpPr>
          <a:xfrm rot="0">
            <a:off x="1536192" y="7166212"/>
            <a:ext cx="8229600" cy="708660"/>
            <a:chOff x="0" y="0"/>
            <a:chExt cx="10972800" cy="944880"/>
          </a:xfrm>
        </p:grpSpPr>
        <p:sp>
          <p:nvSpPr>
            <p:cNvPr name="Freeform 31" id="31"/>
            <p:cNvSpPr/>
            <p:nvPr/>
          </p:nvSpPr>
          <p:spPr>
            <a:xfrm flipH="false" flipV="false" rot="0">
              <a:off x="0" y="0"/>
              <a:ext cx="10972800" cy="944880"/>
            </a:xfrm>
            <a:custGeom>
              <a:avLst/>
              <a:gdLst/>
              <a:ahLst/>
              <a:cxnLst/>
              <a:rect r="r" b="b" t="t" l="l"/>
              <a:pathLst>
                <a:path h="944880" w="10972800">
                  <a:moveTo>
                    <a:pt x="0" y="0"/>
                  </a:moveTo>
                  <a:lnTo>
                    <a:pt x="10972800" y="0"/>
                  </a:lnTo>
                  <a:lnTo>
                    <a:pt x="10972800" y="944880"/>
                  </a:lnTo>
                  <a:lnTo>
                    <a:pt x="0" y="944880"/>
                  </a:lnTo>
                  <a:close/>
                </a:path>
              </a:pathLst>
            </a:custGeom>
            <a:blipFill>
              <a:blip r:embed="rId4">
                <a:alphaModFix amt="0"/>
              </a:blip>
              <a:stretch>
                <a:fillRect l="0" t="-192406" r="0" b="-160148"/>
              </a:stretch>
            </a:blipFill>
          </p:spPr>
        </p:sp>
        <p:sp>
          <p:nvSpPr>
            <p:cNvPr name="TextBox 32" id="32"/>
            <p:cNvSpPr txBox="true"/>
            <p:nvPr/>
          </p:nvSpPr>
          <p:spPr>
            <a:xfrm>
              <a:off x="0" y="-47625"/>
              <a:ext cx="10972800" cy="992505"/>
            </a:xfrm>
            <a:prstGeom prst="rect">
              <a:avLst/>
            </a:prstGeom>
          </p:spPr>
          <p:txBody>
            <a:bodyPr anchor="ctr" rtlCol="false" tIns="0" lIns="0" bIns="0" rIns="0"/>
            <a:lstStyle/>
            <a:p>
              <a:pPr algn="l">
                <a:lnSpc>
                  <a:spcPts val="2699"/>
                </a:lnSpc>
              </a:pPr>
              <a:r>
                <a:rPr lang="en-US" sz="2249">
                  <a:solidFill>
                    <a:srgbClr val="CFE7EA"/>
                  </a:solidFill>
                  <a:latin typeface="Calibri (MS)"/>
                  <a:ea typeface="Calibri (MS)"/>
                  <a:cs typeface="Calibri (MS)"/>
                  <a:sym typeface="Calibri (MS)"/>
                </a:rPr>
                <a:t>2520090123</a:t>
              </a:r>
              <a:r>
                <a:rPr lang="en-US" sz="2249">
                  <a:solidFill>
                    <a:srgbClr val="CFE7EA"/>
                  </a:solidFill>
                  <a:latin typeface="Calibri (MS)"/>
                  <a:ea typeface="Calibri (MS)"/>
                  <a:cs typeface="Calibri (MS)"/>
                  <a:sym typeface="Calibri (MS)"/>
                </a:rPr>
                <a:t>  •   Jalla Geya Reddy</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00A896"/>
                  </a:solidFill>
                  <a:latin typeface="Calibri (MS) Bold"/>
                  <a:ea typeface="Calibri (MS) Bold"/>
                  <a:cs typeface="Calibri (MS) Bold"/>
                  <a:sym typeface="Calibri (MS) Bold"/>
                </a:rPr>
                <a:t>THE CHALLENGE</a:t>
              </a:r>
            </a:p>
          </p:txBody>
        </p:sp>
      </p:grpSp>
      <p:grpSp>
        <p:nvGrpSpPr>
          <p:cNvPr name="Group 5" id="5"/>
          <p:cNvGrpSpPr/>
          <p:nvPr/>
        </p:nvGrpSpPr>
        <p:grpSpPr>
          <a:xfrm rot="0">
            <a:off x="960120" y="960120"/>
            <a:ext cx="16322040" cy="960120"/>
            <a:chOff x="0" y="0"/>
            <a:chExt cx="21762720" cy="1280160"/>
          </a:xfrm>
        </p:grpSpPr>
        <p:sp>
          <p:nvSpPr>
            <p:cNvPr name="Freeform 6" id="6"/>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7" id="7"/>
            <p:cNvSpPr txBox="true"/>
            <p:nvPr/>
          </p:nvSpPr>
          <p:spPr>
            <a:xfrm>
              <a:off x="0" y="-19050"/>
              <a:ext cx="21762720" cy="1299210"/>
            </a:xfrm>
            <a:prstGeom prst="rect">
              <a:avLst/>
            </a:prstGeom>
          </p:spPr>
          <p:txBody>
            <a:bodyPr anchor="ctr" rtlCol="false" tIns="0" lIns="0" bIns="0" rIns="0"/>
            <a:lstStyle/>
            <a:p>
              <a:pPr algn="l">
                <a:lnSpc>
                  <a:spcPts val="5400"/>
                </a:lnSpc>
              </a:pPr>
              <a:r>
                <a:rPr lang="en-US" sz="4500" b="true">
                  <a:solidFill>
                    <a:srgbClr val="05375A"/>
                  </a:solidFill>
                  <a:latin typeface="Cambria Bold"/>
                  <a:ea typeface="Cambria Bold"/>
                  <a:cs typeface="Cambria Bold"/>
                  <a:sym typeface="Cambria Bold"/>
                </a:rPr>
                <a:t>Problem Statement</a:t>
              </a:r>
            </a:p>
          </p:txBody>
        </p:sp>
      </p:grpSp>
      <p:grpSp>
        <p:nvGrpSpPr>
          <p:cNvPr name="Group 8" id="8"/>
          <p:cNvGrpSpPr/>
          <p:nvPr/>
        </p:nvGrpSpPr>
        <p:grpSpPr>
          <a:xfrm rot="0">
            <a:off x="950595" y="2596515"/>
            <a:ext cx="5162550" cy="6259830"/>
            <a:chOff x="0" y="0"/>
            <a:chExt cx="6883400" cy="8346440"/>
          </a:xfrm>
        </p:grpSpPr>
        <p:sp>
          <p:nvSpPr>
            <p:cNvPr name="Freeform 9" id="9"/>
            <p:cNvSpPr/>
            <p:nvPr/>
          </p:nvSpPr>
          <p:spPr>
            <a:xfrm flipH="false" flipV="false" rot="0">
              <a:off x="0" y="0"/>
              <a:ext cx="6883400" cy="8346440"/>
            </a:xfrm>
            <a:custGeom>
              <a:avLst/>
              <a:gdLst/>
              <a:ahLst/>
              <a:cxnLst/>
              <a:rect r="r" b="b" t="t" l="l"/>
              <a:pathLst>
                <a:path h="8346440" w="6883400">
                  <a:moveTo>
                    <a:pt x="0" y="220218"/>
                  </a:moveTo>
                  <a:cubicBezTo>
                    <a:pt x="0" y="98679"/>
                    <a:pt x="98679" y="0"/>
                    <a:pt x="220218" y="0"/>
                  </a:cubicBezTo>
                  <a:lnTo>
                    <a:pt x="6663182" y="0"/>
                  </a:lnTo>
                  <a:cubicBezTo>
                    <a:pt x="6784721" y="0"/>
                    <a:pt x="6883400" y="98679"/>
                    <a:pt x="6883400" y="220218"/>
                  </a:cubicBezTo>
                  <a:lnTo>
                    <a:pt x="6883400" y="8126222"/>
                  </a:lnTo>
                  <a:cubicBezTo>
                    <a:pt x="6883400" y="8247888"/>
                    <a:pt x="6784721" y="8346440"/>
                    <a:pt x="6663182" y="8346440"/>
                  </a:cubicBezTo>
                  <a:lnTo>
                    <a:pt x="220218" y="8346440"/>
                  </a:lnTo>
                  <a:cubicBezTo>
                    <a:pt x="98679" y="8346440"/>
                    <a:pt x="0" y="8247761"/>
                    <a:pt x="0" y="8126222"/>
                  </a:cubicBezTo>
                  <a:close/>
                </a:path>
              </a:pathLst>
            </a:custGeom>
            <a:solidFill>
              <a:srgbClr val="F4F7F8"/>
            </a:solidFill>
            <a:ln w="19050" cap="sq">
              <a:solidFill>
                <a:srgbClr val="E2E8ED"/>
              </a:solidFill>
              <a:prstDash val="solid"/>
              <a:miter/>
            </a:ln>
          </p:spPr>
        </p:sp>
      </p:grpSp>
      <p:grpSp>
        <p:nvGrpSpPr>
          <p:cNvPr name="Group 10" id="10"/>
          <p:cNvGrpSpPr/>
          <p:nvPr/>
        </p:nvGrpSpPr>
        <p:grpSpPr>
          <a:xfrm rot="0">
            <a:off x="1440180" y="3086100"/>
            <a:ext cx="1165860" cy="1165860"/>
            <a:chOff x="0" y="0"/>
            <a:chExt cx="1554480" cy="1554480"/>
          </a:xfrm>
        </p:grpSpPr>
        <p:sp>
          <p:nvSpPr>
            <p:cNvPr name="Freeform 11" id="11"/>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028090"/>
            </a:solidFill>
          </p:spPr>
        </p:sp>
      </p:grpSp>
      <p:grpSp>
        <p:nvGrpSpPr>
          <p:cNvPr name="Group 12" id="12"/>
          <p:cNvGrpSpPr/>
          <p:nvPr/>
        </p:nvGrpSpPr>
        <p:grpSpPr>
          <a:xfrm rot="0">
            <a:off x="1714500" y="3360420"/>
            <a:ext cx="617220" cy="617220"/>
            <a:chOff x="0" y="0"/>
            <a:chExt cx="822960" cy="822960"/>
          </a:xfrm>
        </p:grpSpPr>
        <p:sp>
          <p:nvSpPr>
            <p:cNvPr name="Freeform 13" id="13" descr="/home/claude/proj/icons/search_white.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4"/>
              <a:stretch>
                <a:fillRect l="0" t="0" r="0" b="0"/>
              </a:stretch>
            </a:blipFill>
          </p:spPr>
        </p:sp>
      </p:grpSp>
      <p:grpSp>
        <p:nvGrpSpPr>
          <p:cNvPr name="Group 14" id="14"/>
          <p:cNvGrpSpPr/>
          <p:nvPr/>
        </p:nvGrpSpPr>
        <p:grpSpPr>
          <a:xfrm rot="0">
            <a:off x="4663440" y="3017520"/>
            <a:ext cx="1097280" cy="822960"/>
            <a:chOff x="0" y="0"/>
            <a:chExt cx="1463040" cy="1097280"/>
          </a:xfrm>
        </p:grpSpPr>
        <p:sp>
          <p:nvSpPr>
            <p:cNvPr name="Freeform 15" id="15"/>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16" id="16"/>
            <p:cNvSpPr txBox="true"/>
            <p:nvPr/>
          </p:nvSpPr>
          <p:spPr>
            <a:xfrm>
              <a:off x="0" y="0"/>
              <a:ext cx="1463040" cy="1097280"/>
            </a:xfrm>
            <a:prstGeom prst="rect">
              <a:avLst/>
            </a:prstGeom>
          </p:spPr>
          <p:txBody>
            <a:bodyPr anchor="ctr" rtlCol="false" tIns="0" lIns="0" bIns="0" rIns="0"/>
            <a:lstStyle/>
            <a:p>
              <a:pPr algn="r">
                <a:lnSpc>
                  <a:spcPts val="4680"/>
                </a:lnSpc>
              </a:pPr>
              <a:r>
                <a:rPr lang="en-US" sz="3900" b="true">
                  <a:solidFill>
                    <a:srgbClr val="E2E8ED"/>
                  </a:solidFill>
                  <a:latin typeface="Cambria Bold"/>
                  <a:ea typeface="Cambria Bold"/>
                  <a:cs typeface="Cambria Bold"/>
                  <a:sym typeface="Cambria Bold"/>
                </a:rPr>
                <a:t>01</a:t>
              </a:r>
            </a:p>
          </p:txBody>
        </p:sp>
      </p:grpSp>
      <p:grpSp>
        <p:nvGrpSpPr>
          <p:cNvPr name="Group 17" id="17"/>
          <p:cNvGrpSpPr/>
          <p:nvPr/>
        </p:nvGrpSpPr>
        <p:grpSpPr>
          <a:xfrm rot="0">
            <a:off x="1440180" y="4526280"/>
            <a:ext cx="4183380" cy="1303020"/>
            <a:chOff x="0" y="0"/>
            <a:chExt cx="5577840" cy="1737360"/>
          </a:xfrm>
        </p:grpSpPr>
        <p:sp>
          <p:nvSpPr>
            <p:cNvPr name="Freeform 18" id="18"/>
            <p:cNvSpPr/>
            <p:nvPr/>
          </p:nvSpPr>
          <p:spPr>
            <a:xfrm flipH="false" flipV="false" rot="0">
              <a:off x="0" y="0"/>
              <a:ext cx="5577840" cy="1737360"/>
            </a:xfrm>
            <a:custGeom>
              <a:avLst/>
              <a:gdLst/>
              <a:ahLst/>
              <a:cxnLst/>
              <a:rect r="r" b="b" t="t" l="l"/>
              <a:pathLst>
                <a:path h="1737360" w="5577840">
                  <a:moveTo>
                    <a:pt x="0" y="0"/>
                  </a:moveTo>
                  <a:lnTo>
                    <a:pt x="5577840" y="0"/>
                  </a:lnTo>
                  <a:lnTo>
                    <a:pt x="5577840" y="1737360"/>
                  </a:lnTo>
                  <a:lnTo>
                    <a:pt x="0" y="1737360"/>
                  </a:lnTo>
                  <a:close/>
                </a:path>
              </a:pathLst>
            </a:custGeom>
            <a:blipFill>
              <a:blip r:embed="rId3">
                <a:alphaModFix amt="0"/>
              </a:blip>
              <a:stretch>
                <a:fillRect l="0" t="-12557" r="0" b="-12557"/>
              </a:stretch>
            </a:blipFill>
          </p:spPr>
        </p:sp>
        <p:sp>
          <p:nvSpPr>
            <p:cNvPr name="TextBox 19" id="19"/>
            <p:cNvSpPr txBox="true"/>
            <p:nvPr/>
          </p:nvSpPr>
          <p:spPr>
            <a:xfrm>
              <a:off x="0" y="-28575"/>
              <a:ext cx="5577840" cy="1765935"/>
            </a:xfrm>
            <a:prstGeom prst="rect">
              <a:avLst/>
            </a:prstGeom>
          </p:spPr>
          <p:txBody>
            <a:bodyPr anchor="ctr" rtlCol="false" tIns="0" lIns="0" bIns="0" rIns="0"/>
            <a:lstStyle/>
            <a:p>
              <a:pPr algn="l">
                <a:lnSpc>
                  <a:spcPts val="3118"/>
                </a:lnSpc>
              </a:pPr>
              <a:r>
                <a:rPr lang="en-US" sz="2475" b="true">
                  <a:solidFill>
                    <a:srgbClr val="05375A"/>
                  </a:solidFill>
                  <a:latin typeface="Cambria Bold"/>
                  <a:ea typeface="Cambria Bold"/>
                  <a:cs typeface="Cambria Bold"/>
                  <a:sym typeface="Cambria Bold"/>
                </a:rPr>
                <a:t>Finding Available Rooms Is Difficult</a:t>
              </a:r>
            </a:p>
          </p:txBody>
        </p:sp>
      </p:grpSp>
      <p:grpSp>
        <p:nvGrpSpPr>
          <p:cNvPr name="Group 20" id="20"/>
          <p:cNvGrpSpPr/>
          <p:nvPr/>
        </p:nvGrpSpPr>
        <p:grpSpPr>
          <a:xfrm rot="0">
            <a:off x="1440180" y="5829300"/>
            <a:ext cx="4183380" cy="2743200"/>
            <a:chOff x="0" y="0"/>
            <a:chExt cx="5577840" cy="3657600"/>
          </a:xfrm>
        </p:grpSpPr>
        <p:sp>
          <p:nvSpPr>
            <p:cNvPr name="Freeform 21" id="21"/>
            <p:cNvSpPr/>
            <p:nvPr/>
          </p:nvSpPr>
          <p:spPr>
            <a:xfrm flipH="false" flipV="false" rot="0">
              <a:off x="0" y="0"/>
              <a:ext cx="5577840" cy="3657600"/>
            </a:xfrm>
            <a:custGeom>
              <a:avLst/>
              <a:gdLst/>
              <a:ahLst/>
              <a:cxnLst/>
              <a:rect r="r" b="b" t="t" l="l"/>
              <a:pathLst>
                <a:path h="3657600" w="5577840">
                  <a:moveTo>
                    <a:pt x="0" y="0"/>
                  </a:moveTo>
                  <a:lnTo>
                    <a:pt x="5577840" y="0"/>
                  </a:lnTo>
                  <a:lnTo>
                    <a:pt x="5577840" y="3657600"/>
                  </a:lnTo>
                  <a:lnTo>
                    <a:pt x="0" y="3657600"/>
                  </a:lnTo>
                  <a:close/>
                </a:path>
              </a:pathLst>
            </a:custGeom>
            <a:blipFill>
              <a:blip r:embed="rId3">
                <a:alphaModFix amt="0"/>
              </a:blip>
              <a:stretch>
                <a:fillRect l="-34133" t="0" r="-34133" b="0"/>
              </a:stretch>
            </a:blipFill>
          </p:spPr>
        </p:sp>
        <p:sp>
          <p:nvSpPr>
            <p:cNvPr name="TextBox 22" id="22"/>
            <p:cNvSpPr txBox="true"/>
            <p:nvPr/>
          </p:nvSpPr>
          <p:spPr>
            <a:xfrm>
              <a:off x="0" y="-95250"/>
              <a:ext cx="5577840" cy="3752850"/>
            </a:xfrm>
            <a:prstGeom prst="rect">
              <a:avLst/>
            </a:prstGeom>
          </p:spPr>
          <p:txBody>
            <a:bodyPr anchor="ctr" rtlCol="false" tIns="0" lIns="0" bIns="0" rIns="0"/>
            <a:lstStyle/>
            <a:p>
              <a:pPr algn="l">
                <a:lnSpc>
                  <a:spcPts val="2812"/>
                </a:lnSpc>
              </a:pPr>
              <a:r>
                <a:rPr lang="en-US" sz="1875">
                  <a:solidFill>
                    <a:srgbClr val="1B2B34"/>
                  </a:solidFill>
                  <a:latin typeface="Calibri (MS)"/>
                  <a:ea typeface="Calibri (MS)"/>
                  <a:cs typeface="Calibri (MS)"/>
                  <a:sym typeface="Calibri (MS)"/>
                </a:rPr>
                <a:t>Students frequently struggle to locate free rooms during college hours, since there is no shared, up-to-date view of room availability.</a:t>
              </a:r>
            </a:p>
          </p:txBody>
        </p:sp>
      </p:grpSp>
      <p:grpSp>
        <p:nvGrpSpPr>
          <p:cNvPr name="Group 23" id="23"/>
          <p:cNvGrpSpPr/>
          <p:nvPr/>
        </p:nvGrpSpPr>
        <p:grpSpPr>
          <a:xfrm rot="0">
            <a:off x="6574155" y="2596515"/>
            <a:ext cx="5162550" cy="6259830"/>
            <a:chOff x="0" y="0"/>
            <a:chExt cx="6883400" cy="8346440"/>
          </a:xfrm>
        </p:grpSpPr>
        <p:sp>
          <p:nvSpPr>
            <p:cNvPr name="Freeform 24" id="24"/>
            <p:cNvSpPr/>
            <p:nvPr/>
          </p:nvSpPr>
          <p:spPr>
            <a:xfrm flipH="false" flipV="false" rot="0">
              <a:off x="0" y="0"/>
              <a:ext cx="6883400" cy="8346440"/>
            </a:xfrm>
            <a:custGeom>
              <a:avLst/>
              <a:gdLst/>
              <a:ahLst/>
              <a:cxnLst/>
              <a:rect r="r" b="b" t="t" l="l"/>
              <a:pathLst>
                <a:path h="8346440" w="6883400">
                  <a:moveTo>
                    <a:pt x="0" y="220218"/>
                  </a:moveTo>
                  <a:cubicBezTo>
                    <a:pt x="0" y="98679"/>
                    <a:pt x="98679" y="0"/>
                    <a:pt x="220218" y="0"/>
                  </a:cubicBezTo>
                  <a:lnTo>
                    <a:pt x="6663182" y="0"/>
                  </a:lnTo>
                  <a:cubicBezTo>
                    <a:pt x="6784721" y="0"/>
                    <a:pt x="6883400" y="98679"/>
                    <a:pt x="6883400" y="220218"/>
                  </a:cubicBezTo>
                  <a:lnTo>
                    <a:pt x="6883400" y="8126222"/>
                  </a:lnTo>
                  <a:cubicBezTo>
                    <a:pt x="6883400" y="8247888"/>
                    <a:pt x="6784721" y="8346440"/>
                    <a:pt x="6663182" y="8346440"/>
                  </a:cubicBezTo>
                  <a:lnTo>
                    <a:pt x="220218" y="8346440"/>
                  </a:lnTo>
                  <a:cubicBezTo>
                    <a:pt x="98679" y="8346440"/>
                    <a:pt x="0" y="8247761"/>
                    <a:pt x="0" y="8126222"/>
                  </a:cubicBezTo>
                  <a:close/>
                </a:path>
              </a:pathLst>
            </a:custGeom>
            <a:solidFill>
              <a:srgbClr val="F4F7F8"/>
            </a:solidFill>
            <a:ln w="19050" cap="sq">
              <a:solidFill>
                <a:srgbClr val="E2E8ED"/>
              </a:solidFill>
              <a:prstDash val="solid"/>
              <a:miter/>
            </a:ln>
          </p:spPr>
        </p:sp>
      </p:grpSp>
      <p:grpSp>
        <p:nvGrpSpPr>
          <p:cNvPr name="Group 25" id="25"/>
          <p:cNvGrpSpPr/>
          <p:nvPr/>
        </p:nvGrpSpPr>
        <p:grpSpPr>
          <a:xfrm rot="0">
            <a:off x="7063740" y="3086100"/>
            <a:ext cx="1165860" cy="1165860"/>
            <a:chOff x="0" y="0"/>
            <a:chExt cx="1554480" cy="1554480"/>
          </a:xfrm>
        </p:grpSpPr>
        <p:sp>
          <p:nvSpPr>
            <p:cNvPr name="Freeform 26" id="26"/>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028090"/>
            </a:solidFill>
          </p:spPr>
        </p:sp>
      </p:grpSp>
      <p:grpSp>
        <p:nvGrpSpPr>
          <p:cNvPr name="Group 27" id="27"/>
          <p:cNvGrpSpPr/>
          <p:nvPr/>
        </p:nvGrpSpPr>
        <p:grpSpPr>
          <a:xfrm rot="0">
            <a:off x="7338060" y="3360420"/>
            <a:ext cx="617220" cy="617220"/>
            <a:chOff x="0" y="0"/>
            <a:chExt cx="822960" cy="822960"/>
          </a:xfrm>
        </p:grpSpPr>
        <p:sp>
          <p:nvSpPr>
            <p:cNvPr name="Freeform 28" id="28" descr="/home/claude/proj/icons/users_white.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5"/>
              <a:stretch>
                <a:fillRect l="0" t="0" r="0" b="0"/>
              </a:stretch>
            </a:blipFill>
          </p:spPr>
        </p:sp>
      </p:grpSp>
      <p:grpSp>
        <p:nvGrpSpPr>
          <p:cNvPr name="Group 29" id="29"/>
          <p:cNvGrpSpPr/>
          <p:nvPr/>
        </p:nvGrpSpPr>
        <p:grpSpPr>
          <a:xfrm rot="0">
            <a:off x="10287000" y="3017520"/>
            <a:ext cx="1097280" cy="822960"/>
            <a:chOff x="0" y="0"/>
            <a:chExt cx="1463040" cy="1097280"/>
          </a:xfrm>
        </p:grpSpPr>
        <p:sp>
          <p:nvSpPr>
            <p:cNvPr name="Freeform 30" id="30"/>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31" id="31"/>
            <p:cNvSpPr txBox="true"/>
            <p:nvPr/>
          </p:nvSpPr>
          <p:spPr>
            <a:xfrm>
              <a:off x="0" y="0"/>
              <a:ext cx="1463040" cy="1097280"/>
            </a:xfrm>
            <a:prstGeom prst="rect">
              <a:avLst/>
            </a:prstGeom>
          </p:spPr>
          <p:txBody>
            <a:bodyPr anchor="ctr" rtlCol="false" tIns="0" lIns="0" bIns="0" rIns="0"/>
            <a:lstStyle/>
            <a:p>
              <a:pPr algn="r">
                <a:lnSpc>
                  <a:spcPts val="4680"/>
                </a:lnSpc>
              </a:pPr>
              <a:r>
                <a:rPr lang="en-US" sz="3900" b="true">
                  <a:solidFill>
                    <a:srgbClr val="E2E8ED"/>
                  </a:solidFill>
                  <a:latin typeface="Cambria Bold"/>
                  <a:ea typeface="Cambria Bold"/>
                  <a:cs typeface="Cambria Bold"/>
                  <a:sym typeface="Cambria Bold"/>
                </a:rPr>
                <a:t>02</a:t>
              </a:r>
            </a:p>
          </p:txBody>
        </p:sp>
      </p:grpSp>
      <p:grpSp>
        <p:nvGrpSpPr>
          <p:cNvPr name="Group 32" id="32"/>
          <p:cNvGrpSpPr/>
          <p:nvPr/>
        </p:nvGrpSpPr>
        <p:grpSpPr>
          <a:xfrm rot="0">
            <a:off x="7063740" y="4526280"/>
            <a:ext cx="4183380" cy="1303020"/>
            <a:chOff x="0" y="0"/>
            <a:chExt cx="5577840" cy="1737360"/>
          </a:xfrm>
        </p:grpSpPr>
        <p:sp>
          <p:nvSpPr>
            <p:cNvPr name="Freeform 33" id="33"/>
            <p:cNvSpPr/>
            <p:nvPr/>
          </p:nvSpPr>
          <p:spPr>
            <a:xfrm flipH="false" flipV="false" rot="0">
              <a:off x="0" y="0"/>
              <a:ext cx="5577840" cy="1737360"/>
            </a:xfrm>
            <a:custGeom>
              <a:avLst/>
              <a:gdLst/>
              <a:ahLst/>
              <a:cxnLst/>
              <a:rect r="r" b="b" t="t" l="l"/>
              <a:pathLst>
                <a:path h="1737360" w="5577840">
                  <a:moveTo>
                    <a:pt x="0" y="0"/>
                  </a:moveTo>
                  <a:lnTo>
                    <a:pt x="5577840" y="0"/>
                  </a:lnTo>
                  <a:lnTo>
                    <a:pt x="5577840" y="1737360"/>
                  </a:lnTo>
                  <a:lnTo>
                    <a:pt x="0" y="1737360"/>
                  </a:lnTo>
                  <a:close/>
                </a:path>
              </a:pathLst>
            </a:custGeom>
            <a:blipFill>
              <a:blip r:embed="rId3">
                <a:alphaModFix amt="0"/>
              </a:blip>
              <a:stretch>
                <a:fillRect l="0" t="-12557" r="0" b="-12557"/>
              </a:stretch>
            </a:blipFill>
          </p:spPr>
        </p:sp>
        <p:sp>
          <p:nvSpPr>
            <p:cNvPr name="TextBox 34" id="34"/>
            <p:cNvSpPr txBox="true"/>
            <p:nvPr/>
          </p:nvSpPr>
          <p:spPr>
            <a:xfrm>
              <a:off x="0" y="-28575"/>
              <a:ext cx="5577840" cy="1765935"/>
            </a:xfrm>
            <a:prstGeom prst="rect">
              <a:avLst/>
            </a:prstGeom>
          </p:spPr>
          <p:txBody>
            <a:bodyPr anchor="ctr" rtlCol="false" tIns="0" lIns="0" bIns="0" rIns="0"/>
            <a:lstStyle/>
            <a:p>
              <a:pPr algn="l">
                <a:lnSpc>
                  <a:spcPts val="3118"/>
                </a:lnSpc>
              </a:pPr>
              <a:r>
                <a:rPr lang="en-US" sz="2475" b="true">
                  <a:solidFill>
                    <a:srgbClr val="05375A"/>
                  </a:solidFill>
                  <a:latin typeface="Cambria Bold"/>
                  <a:ea typeface="Cambria Bold"/>
                  <a:cs typeface="Cambria Bold"/>
                  <a:sym typeface="Cambria Bold"/>
                </a:rPr>
                <a:t>Spot Registrations Disrupt Planning</a:t>
              </a:r>
            </a:p>
          </p:txBody>
        </p:sp>
      </p:grpSp>
      <p:grpSp>
        <p:nvGrpSpPr>
          <p:cNvPr name="Group 35" id="35"/>
          <p:cNvGrpSpPr/>
          <p:nvPr/>
        </p:nvGrpSpPr>
        <p:grpSpPr>
          <a:xfrm rot="0">
            <a:off x="7063740" y="5829300"/>
            <a:ext cx="4183380" cy="2743200"/>
            <a:chOff x="0" y="0"/>
            <a:chExt cx="5577840" cy="3657600"/>
          </a:xfrm>
        </p:grpSpPr>
        <p:sp>
          <p:nvSpPr>
            <p:cNvPr name="Freeform 36" id="36"/>
            <p:cNvSpPr/>
            <p:nvPr/>
          </p:nvSpPr>
          <p:spPr>
            <a:xfrm flipH="false" flipV="false" rot="0">
              <a:off x="0" y="0"/>
              <a:ext cx="5577840" cy="3657600"/>
            </a:xfrm>
            <a:custGeom>
              <a:avLst/>
              <a:gdLst/>
              <a:ahLst/>
              <a:cxnLst/>
              <a:rect r="r" b="b" t="t" l="l"/>
              <a:pathLst>
                <a:path h="3657600" w="5577840">
                  <a:moveTo>
                    <a:pt x="0" y="0"/>
                  </a:moveTo>
                  <a:lnTo>
                    <a:pt x="5577840" y="0"/>
                  </a:lnTo>
                  <a:lnTo>
                    <a:pt x="5577840" y="3657600"/>
                  </a:lnTo>
                  <a:lnTo>
                    <a:pt x="0" y="3657600"/>
                  </a:lnTo>
                  <a:close/>
                </a:path>
              </a:pathLst>
            </a:custGeom>
            <a:blipFill>
              <a:blip r:embed="rId3">
                <a:alphaModFix amt="0"/>
              </a:blip>
              <a:stretch>
                <a:fillRect l="-34133" t="0" r="-34133" b="0"/>
              </a:stretch>
            </a:blipFill>
          </p:spPr>
        </p:sp>
        <p:sp>
          <p:nvSpPr>
            <p:cNvPr name="TextBox 37" id="37"/>
            <p:cNvSpPr txBox="true"/>
            <p:nvPr/>
          </p:nvSpPr>
          <p:spPr>
            <a:xfrm>
              <a:off x="0" y="-95250"/>
              <a:ext cx="5577840" cy="3752850"/>
            </a:xfrm>
            <a:prstGeom prst="rect">
              <a:avLst/>
            </a:prstGeom>
          </p:spPr>
          <p:txBody>
            <a:bodyPr anchor="ctr" rtlCol="false" tIns="0" lIns="0" bIns="0" rIns="0"/>
            <a:lstStyle/>
            <a:p>
              <a:pPr algn="l">
                <a:lnSpc>
                  <a:spcPts val="2812"/>
                </a:lnSpc>
              </a:pPr>
              <a:r>
                <a:rPr lang="en-US" sz="1875">
                  <a:solidFill>
                    <a:srgbClr val="1B2B34"/>
                  </a:solidFill>
                  <a:latin typeface="Calibri (MS)"/>
                  <a:ea typeface="Calibri (MS)"/>
                  <a:cs typeface="Calibri (MS)"/>
                  <a:sym typeface="Calibri (MS)"/>
                </a:rPr>
                <a:t>Hackathons, workshops, seminars, and competitions often receive extra participants through spot registrations, pushing attendance beyond the expected count.</a:t>
              </a:r>
            </a:p>
          </p:txBody>
        </p:sp>
      </p:grpSp>
      <p:grpSp>
        <p:nvGrpSpPr>
          <p:cNvPr name="Group 38" id="38"/>
          <p:cNvGrpSpPr/>
          <p:nvPr/>
        </p:nvGrpSpPr>
        <p:grpSpPr>
          <a:xfrm rot="0">
            <a:off x="12197715" y="2596515"/>
            <a:ext cx="5162550" cy="6259830"/>
            <a:chOff x="0" y="0"/>
            <a:chExt cx="6883400" cy="8346440"/>
          </a:xfrm>
        </p:grpSpPr>
        <p:sp>
          <p:nvSpPr>
            <p:cNvPr name="Freeform 39" id="39"/>
            <p:cNvSpPr/>
            <p:nvPr/>
          </p:nvSpPr>
          <p:spPr>
            <a:xfrm flipH="false" flipV="false" rot="0">
              <a:off x="0" y="0"/>
              <a:ext cx="6883400" cy="8346440"/>
            </a:xfrm>
            <a:custGeom>
              <a:avLst/>
              <a:gdLst/>
              <a:ahLst/>
              <a:cxnLst/>
              <a:rect r="r" b="b" t="t" l="l"/>
              <a:pathLst>
                <a:path h="8346440" w="6883400">
                  <a:moveTo>
                    <a:pt x="0" y="220218"/>
                  </a:moveTo>
                  <a:cubicBezTo>
                    <a:pt x="0" y="98679"/>
                    <a:pt x="98679" y="0"/>
                    <a:pt x="220218" y="0"/>
                  </a:cubicBezTo>
                  <a:lnTo>
                    <a:pt x="6663182" y="0"/>
                  </a:lnTo>
                  <a:cubicBezTo>
                    <a:pt x="6784721" y="0"/>
                    <a:pt x="6883400" y="98679"/>
                    <a:pt x="6883400" y="220218"/>
                  </a:cubicBezTo>
                  <a:lnTo>
                    <a:pt x="6883400" y="8126222"/>
                  </a:lnTo>
                  <a:cubicBezTo>
                    <a:pt x="6883400" y="8247888"/>
                    <a:pt x="6784721" y="8346440"/>
                    <a:pt x="6663182" y="8346440"/>
                  </a:cubicBezTo>
                  <a:lnTo>
                    <a:pt x="220218" y="8346440"/>
                  </a:lnTo>
                  <a:cubicBezTo>
                    <a:pt x="98679" y="8346440"/>
                    <a:pt x="0" y="8247761"/>
                    <a:pt x="0" y="8126222"/>
                  </a:cubicBezTo>
                  <a:close/>
                </a:path>
              </a:pathLst>
            </a:custGeom>
            <a:solidFill>
              <a:srgbClr val="F4F7F8"/>
            </a:solidFill>
            <a:ln w="19050" cap="sq">
              <a:solidFill>
                <a:srgbClr val="E2E8ED"/>
              </a:solidFill>
              <a:prstDash val="solid"/>
              <a:miter/>
            </a:ln>
          </p:spPr>
        </p:sp>
      </p:grpSp>
      <p:grpSp>
        <p:nvGrpSpPr>
          <p:cNvPr name="Group 40" id="40"/>
          <p:cNvGrpSpPr/>
          <p:nvPr/>
        </p:nvGrpSpPr>
        <p:grpSpPr>
          <a:xfrm rot="0">
            <a:off x="12687300" y="3086100"/>
            <a:ext cx="1165860" cy="1165860"/>
            <a:chOff x="0" y="0"/>
            <a:chExt cx="1554480" cy="1554480"/>
          </a:xfrm>
        </p:grpSpPr>
        <p:sp>
          <p:nvSpPr>
            <p:cNvPr name="Freeform 41" id="41"/>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028090"/>
            </a:solidFill>
          </p:spPr>
        </p:sp>
      </p:grpSp>
      <p:grpSp>
        <p:nvGrpSpPr>
          <p:cNvPr name="Group 42" id="42"/>
          <p:cNvGrpSpPr/>
          <p:nvPr/>
        </p:nvGrpSpPr>
        <p:grpSpPr>
          <a:xfrm rot="0">
            <a:off x="12961620" y="3360420"/>
            <a:ext cx="617220" cy="617220"/>
            <a:chOff x="0" y="0"/>
            <a:chExt cx="822960" cy="822960"/>
          </a:xfrm>
        </p:grpSpPr>
        <p:sp>
          <p:nvSpPr>
            <p:cNvPr name="Freeform 43" id="43" descr="/home/claude/proj/icons/warning_white.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6"/>
              <a:stretch>
                <a:fillRect l="0" t="0" r="0" b="0"/>
              </a:stretch>
            </a:blipFill>
          </p:spPr>
        </p:sp>
      </p:grpSp>
      <p:grpSp>
        <p:nvGrpSpPr>
          <p:cNvPr name="Group 44" id="44"/>
          <p:cNvGrpSpPr/>
          <p:nvPr/>
        </p:nvGrpSpPr>
        <p:grpSpPr>
          <a:xfrm rot="0">
            <a:off x="15910560" y="3017520"/>
            <a:ext cx="1097280" cy="822960"/>
            <a:chOff x="0" y="0"/>
            <a:chExt cx="1463040" cy="1097280"/>
          </a:xfrm>
        </p:grpSpPr>
        <p:sp>
          <p:nvSpPr>
            <p:cNvPr name="Freeform 45" id="45"/>
            <p:cNvSpPr/>
            <p:nvPr/>
          </p:nvSpPr>
          <p:spPr>
            <a:xfrm flipH="false" flipV="false" rot="0">
              <a:off x="0" y="0"/>
              <a:ext cx="1463040" cy="1097280"/>
            </a:xfrm>
            <a:custGeom>
              <a:avLst/>
              <a:gdLst/>
              <a:ahLst/>
              <a:cxnLst/>
              <a:rect r="r" b="b" t="t" l="l"/>
              <a:pathLst>
                <a:path h="1097280" w="1463040">
                  <a:moveTo>
                    <a:pt x="0" y="0"/>
                  </a:moveTo>
                  <a:lnTo>
                    <a:pt x="1463040" y="0"/>
                  </a:lnTo>
                  <a:lnTo>
                    <a:pt x="1463040" y="1097280"/>
                  </a:lnTo>
                  <a:lnTo>
                    <a:pt x="0" y="1097280"/>
                  </a:lnTo>
                  <a:close/>
                </a:path>
              </a:pathLst>
            </a:custGeom>
            <a:blipFill>
              <a:blip r:embed="rId3">
                <a:alphaModFix amt="0"/>
              </a:blip>
              <a:stretch>
                <a:fillRect l="-46227" t="0" r="-46227" b="0"/>
              </a:stretch>
            </a:blipFill>
          </p:spPr>
        </p:sp>
        <p:sp>
          <p:nvSpPr>
            <p:cNvPr name="TextBox 46" id="46"/>
            <p:cNvSpPr txBox="true"/>
            <p:nvPr/>
          </p:nvSpPr>
          <p:spPr>
            <a:xfrm>
              <a:off x="0" y="0"/>
              <a:ext cx="1463040" cy="1097280"/>
            </a:xfrm>
            <a:prstGeom prst="rect">
              <a:avLst/>
            </a:prstGeom>
          </p:spPr>
          <p:txBody>
            <a:bodyPr anchor="ctr" rtlCol="false" tIns="0" lIns="0" bIns="0" rIns="0"/>
            <a:lstStyle/>
            <a:p>
              <a:pPr algn="r">
                <a:lnSpc>
                  <a:spcPts val="4680"/>
                </a:lnSpc>
              </a:pPr>
              <a:r>
                <a:rPr lang="en-US" sz="3900" b="true">
                  <a:solidFill>
                    <a:srgbClr val="E2E8ED"/>
                  </a:solidFill>
                  <a:latin typeface="Cambria Bold"/>
                  <a:ea typeface="Cambria Bold"/>
                  <a:cs typeface="Cambria Bold"/>
                  <a:sym typeface="Cambria Bold"/>
                </a:rPr>
                <a:t>03</a:t>
              </a:r>
            </a:p>
          </p:txBody>
        </p:sp>
      </p:grpSp>
      <p:grpSp>
        <p:nvGrpSpPr>
          <p:cNvPr name="Group 47" id="47"/>
          <p:cNvGrpSpPr/>
          <p:nvPr/>
        </p:nvGrpSpPr>
        <p:grpSpPr>
          <a:xfrm rot="0">
            <a:off x="12687300" y="4526280"/>
            <a:ext cx="4183380" cy="1303020"/>
            <a:chOff x="0" y="0"/>
            <a:chExt cx="5577840" cy="1737360"/>
          </a:xfrm>
        </p:grpSpPr>
        <p:sp>
          <p:nvSpPr>
            <p:cNvPr name="Freeform 48" id="48"/>
            <p:cNvSpPr/>
            <p:nvPr/>
          </p:nvSpPr>
          <p:spPr>
            <a:xfrm flipH="false" flipV="false" rot="0">
              <a:off x="0" y="0"/>
              <a:ext cx="5577840" cy="1737360"/>
            </a:xfrm>
            <a:custGeom>
              <a:avLst/>
              <a:gdLst/>
              <a:ahLst/>
              <a:cxnLst/>
              <a:rect r="r" b="b" t="t" l="l"/>
              <a:pathLst>
                <a:path h="1737360" w="5577840">
                  <a:moveTo>
                    <a:pt x="0" y="0"/>
                  </a:moveTo>
                  <a:lnTo>
                    <a:pt x="5577840" y="0"/>
                  </a:lnTo>
                  <a:lnTo>
                    <a:pt x="5577840" y="1737360"/>
                  </a:lnTo>
                  <a:lnTo>
                    <a:pt x="0" y="1737360"/>
                  </a:lnTo>
                  <a:close/>
                </a:path>
              </a:pathLst>
            </a:custGeom>
            <a:blipFill>
              <a:blip r:embed="rId3">
                <a:alphaModFix amt="0"/>
              </a:blip>
              <a:stretch>
                <a:fillRect l="0" t="-12557" r="0" b="-12557"/>
              </a:stretch>
            </a:blipFill>
          </p:spPr>
        </p:sp>
        <p:sp>
          <p:nvSpPr>
            <p:cNvPr name="TextBox 49" id="49"/>
            <p:cNvSpPr txBox="true"/>
            <p:nvPr/>
          </p:nvSpPr>
          <p:spPr>
            <a:xfrm>
              <a:off x="0" y="-28575"/>
              <a:ext cx="5577840" cy="1765935"/>
            </a:xfrm>
            <a:prstGeom prst="rect">
              <a:avLst/>
            </a:prstGeom>
          </p:spPr>
          <p:txBody>
            <a:bodyPr anchor="ctr" rtlCol="false" tIns="0" lIns="0" bIns="0" rIns="0"/>
            <a:lstStyle/>
            <a:p>
              <a:pPr algn="l">
                <a:lnSpc>
                  <a:spcPts val="3118"/>
                </a:lnSpc>
              </a:pPr>
              <a:r>
                <a:rPr lang="en-US" sz="2475" b="true">
                  <a:solidFill>
                    <a:srgbClr val="05375A"/>
                  </a:solidFill>
                  <a:latin typeface="Cambria Bold"/>
                  <a:ea typeface="Cambria Bold"/>
                  <a:cs typeface="Cambria Bold"/>
                  <a:sym typeface="Cambria Bold"/>
                </a:rPr>
                <a:t>Overcrowding &amp; Conflicts Follow</a:t>
              </a:r>
            </a:p>
          </p:txBody>
        </p:sp>
      </p:grpSp>
      <p:grpSp>
        <p:nvGrpSpPr>
          <p:cNvPr name="Group 50" id="50"/>
          <p:cNvGrpSpPr/>
          <p:nvPr/>
        </p:nvGrpSpPr>
        <p:grpSpPr>
          <a:xfrm rot="0">
            <a:off x="12687300" y="5829300"/>
            <a:ext cx="4183380" cy="2743200"/>
            <a:chOff x="0" y="0"/>
            <a:chExt cx="5577840" cy="3657600"/>
          </a:xfrm>
        </p:grpSpPr>
        <p:sp>
          <p:nvSpPr>
            <p:cNvPr name="Freeform 51" id="51"/>
            <p:cNvSpPr/>
            <p:nvPr/>
          </p:nvSpPr>
          <p:spPr>
            <a:xfrm flipH="false" flipV="false" rot="0">
              <a:off x="0" y="0"/>
              <a:ext cx="5577840" cy="3657600"/>
            </a:xfrm>
            <a:custGeom>
              <a:avLst/>
              <a:gdLst/>
              <a:ahLst/>
              <a:cxnLst/>
              <a:rect r="r" b="b" t="t" l="l"/>
              <a:pathLst>
                <a:path h="3657600" w="5577840">
                  <a:moveTo>
                    <a:pt x="0" y="0"/>
                  </a:moveTo>
                  <a:lnTo>
                    <a:pt x="5577840" y="0"/>
                  </a:lnTo>
                  <a:lnTo>
                    <a:pt x="5577840" y="3657600"/>
                  </a:lnTo>
                  <a:lnTo>
                    <a:pt x="0" y="3657600"/>
                  </a:lnTo>
                  <a:close/>
                </a:path>
              </a:pathLst>
            </a:custGeom>
            <a:blipFill>
              <a:blip r:embed="rId3">
                <a:alphaModFix amt="0"/>
              </a:blip>
              <a:stretch>
                <a:fillRect l="-34133" t="0" r="-34133" b="0"/>
              </a:stretch>
            </a:blipFill>
          </p:spPr>
        </p:sp>
        <p:sp>
          <p:nvSpPr>
            <p:cNvPr name="TextBox 52" id="52"/>
            <p:cNvSpPr txBox="true"/>
            <p:nvPr/>
          </p:nvSpPr>
          <p:spPr>
            <a:xfrm>
              <a:off x="0" y="-95250"/>
              <a:ext cx="5577840" cy="3752850"/>
            </a:xfrm>
            <a:prstGeom prst="rect">
              <a:avLst/>
            </a:prstGeom>
          </p:spPr>
          <p:txBody>
            <a:bodyPr anchor="ctr" rtlCol="false" tIns="0" lIns="0" bIns="0" rIns="0"/>
            <a:lstStyle/>
            <a:p>
              <a:pPr algn="l">
                <a:lnSpc>
                  <a:spcPts val="2812"/>
                </a:lnSpc>
              </a:pPr>
              <a:r>
                <a:rPr lang="en-US" sz="1875">
                  <a:solidFill>
                    <a:srgbClr val="1B2B34"/>
                  </a:solidFill>
                  <a:latin typeface="Calibri (MS)"/>
                  <a:ea typeface="Calibri (MS)"/>
                  <a:cs typeface="Calibri (MS)"/>
                  <a:sym typeface="Calibri (MS)"/>
                </a:rPr>
                <a:t>These gaps lead to overcrowding, room allocation clashes, scheduling conflicts, and inefficient use of limited college spaces.</a:t>
              </a:r>
            </a:p>
          </p:txBody>
        </p:sp>
      </p:grpSp>
      <p:grpSp>
        <p:nvGrpSpPr>
          <p:cNvPr name="Group 53" id="53"/>
          <p:cNvGrpSpPr/>
          <p:nvPr/>
        </p:nvGrpSpPr>
        <p:grpSpPr>
          <a:xfrm rot="0">
            <a:off x="685800" y="9710928"/>
            <a:ext cx="10972800" cy="411480"/>
            <a:chOff x="0" y="0"/>
            <a:chExt cx="14630400" cy="548640"/>
          </a:xfrm>
        </p:grpSpPr>
        <p:sp>
          <p:nvSpPr>
            <p:cNvPr name="Freeform 54" id="5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5" id="5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5C7080"/>
                  </a:solidFill>
                  <a:latin typeface="Calibri (MS)"/>
                  <a:ea typeface="Calibri (MS)"/>
                  <a:cs typeface="Calibri (MS)"/>
                  <a:sym typeface="Calibri (MS)"/>
                </a:rPr>
                <a:t>Event &amp; Room Occupancy Management System</a:t>
              </a:r>
            </a:p>
          </p:txBody>
        </p:sp>
      </p:grpSp>
      <p:grpSp>
        <p:nvGrpSpPr>
          <p:cNvPr name="Group 56" id="56"/>
          <p:cNvGrpSpPr/>
          <p:nvPr/>
        </p:nvGrpSpPr>
        <p:grpSpPr>
          <a:xfrm rot="0">
            <a:off x="16915943" y="9710928"/>
            <a:ext cx="685800" cy="411480"/>
            <a:chOff x="0" y="0"/>
            <a:chExt cx="914400" cy="548640"/>
          </a:xfrm>
        </p:grpSpPr>
        <p:sp>
          <p:nvSpPr>
            <p:cNvPr name="Freeform 57" id="5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8" id="5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5C7080"/>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00A896"/>
                  </a:solidFill>
                  <a:latin typeface="Calibri (MS) Bold"/>
                  <a:ea typeface="Calibri (MS) Bold"/>
                  <a:cs typeface="Calibri (MS) Bold"/>
                  <a:sym typeface="Calibri (MS) Bold"/>
                </a:rPr>
                <a:t>OUR APPROACH</a:t>
              </a:r>
            </a:p>
          </p:txBody>
        </p:sp>
      </p:grpSp>
      <p:grpSp>
        <p:nvGrpSpPr>
          <p:cNvPr name="Group 5" id="5"/>
          <p:cNvGrpSpPr/>
          <p:nvPr/>
        </p:nvGrpSpPr>
        <p:grpSpPr>
          <a:xfrm rot="0">
            <a:off x="960120" y="960120"/>
            <a:ext cx="16322040" cy="960120"/>
            <a:chOff x="0" y="0"/>
            <a:chExt cx="21762720" cy="1280160"/>
          </a:xfrm>
        </p:grpSpPr>
        <p:sp>
          <p:nvSpPr>
            <p:cNvPr name="Freeform 6" id="6"/>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7" id="7"/>
            <p:cNvSpPr txBox="true"/>
            <p:nvPr/>
          </p:nvSpPr>
          <p:spPr>
            <a:xfrm>
              <a:off x="0" y="-19050"/>
              <a:ext cx="21762720" cy="1299210"/>
            </a:xfrm>
            <a:prstGeom prst="rect">
              <a:avLst/>
            </a:prstGeom>
          </p:spPr>
          <p:txBody>
            <a:bodyPr anchor="ctr" rtlCol="false" tIns="0" lIns="0" bIns="0" rIns="0"/>
            <a:lstStyle/>
            <a:p>
              <a:pPr algn="l">
                <a:lnSpc>
                  <a:spcPts val="5400"/>
                </a:lnSpc>
              </a:pPr>
              <a:r>
                <a:rPr lang="en-US" sz="4500" b="true">
                  <a:solidFill>
                    <a:srgbClr val="05375A"/>
                  </a:solidFill>
                  <a:latin typeface="Cambria Bold"/>
                  <a:ea typeface="Cambria Bold"/>
                  <a:cs typeface="Cambria Bold"/>
                  <a:sym typeface="Cambria Bold"/>
                </a:rPr>
                <a:t>Proposed Solution</a:t>
              </a:r>
            </a:p>
          </p:txBody>
        </p:sp>
      </p:grpSp>
      <p:grpSp>
        <p:nvGrpSpPr>
          <p:cNvPr name="Group 8" id="8"/>
          <p:cNvGrpSpPr/>
          <p:nvPr/>
        </p:nvGrpSpPr>
        <p:grpSpPr>
          <a:xfrm rot="0">
            <a:off x="960120" y="2263140"/>
            <a:ext cx="16322040" cy="1028700"/>
            <a:chOff x="0" y="0"/>
            <a:chExt cx="21762720" cy="1371600"/>
          </a:xfrm>
        </p:grpSpPr>
        <p:sp>
          <p:nvSpPr>
            <p:cNvPr name="Freeform 9" id="9"/>
            <p:cNvSpPr/>
            <p:nvPr/>
          </p:nvSpPr>
          <p:spPr>
            <a:xfrm flipH="false" flipV="false" rot="0">
              <a:off x="0" y="0"/>
              <a:ext cx="21762720" cy="1371600"/>
            </a:xfrm>
            <a:custGeom>
              <a:avLst/>
              <a:gdLst/>
              <a:ahLst/>
              <a:cxnLst/>
              <a:rect r="r" b="b" t="t" l="l"/>
              <a:pathLst>
                <a:path h="1371600" w="21762720">
                  <a:moveTo>
                    <a:pt x="0" y="0"/>
                  </a:moveTo>
                  <a:lnTo>
                    <a:pt x="21762720" y="0"/>
                  </a:lnTo>
                  <a:lnTo>
                    <a:pt x="21762720" y="1371600"/>
                  </a:lnTo>
                  <a:lnTo>
                    <a:pt x="0" y="1371600"/>
                  </a:lnTo>
                  <a:close/>
                </a:path>
              </a:pathLst>
            </a:custGeom>
            <a:blipFill>
              <a:blip r:embed="rId3">
                <a:alphaModFix amt="0"/>
              </a:blip>
              <a:stretch>
                <a:fillRect l="0" t="-259162" r="0" b="-259162"/>
              </a:stretch>
            </a:blipFill>
          </p:spPr>
        </p:sp>
        <p:sp>
          <p:nvSpPr>
            <p:cNvPr name="TextBox 10" id="10"/>
            <p:cNvSpPr txBox="true"/>
            <p:nvPr/>
          </p:nvSpPr>
          <p:spPr>
            <a:xfrm>
              <a:off x="0" y="-104775"/>
              <a:ext cx="21762720" cy="1476375"/>
            </a:xfrm>
            <a:prstGeom prst="rect">
              <a:avLst/>
            </a:prstGeom>
          </p:spPr>
          <p:txBody>
            <a:bodyPr anchor="ctr" rtlCol="false" tIns="0" lIns="0" bIns="0" rIns="0"/>
            <a:lstStyle/>
            <a:p>
              <a:pPr algn="l">
                <a:lnSpc>
                  <a:spcPts val="3262"/>
                </a:lnSpc>
              </a:pPr>
              <a:r>
                <a:rPr lang="en-US" sz="2175">
                  <a:solidFill>
                    <a:srgbClr val="1B2B34"/>
                  </a:solidFill>
                  <a:latin typeface="Calibri (MS)"/>
                  <a:ea typeface="Calibri (MS)"/>
                  <a:cs typeface="Calibri (MS)"/>
                  <a:sym typeface="Calibri (MS)"/>
                </a:rPr>
                <a:t>We propose to design and develop a centralized, web-based platform that will bring room availability and event management onto a single system — replacing scattered, manual coordination.</a:t>
              </a:r>
            </a:p>
          </p:txBody>
        </p:sp>
      </p:grpSp>
      <p:grpSp>
        <p:nvGrpSpPr>
          <p:cNvPr name="Group 11" id="11"/>
          <p:cNvGrpSpPr/>
          <p:nvPr/>
        </p:nvGrpSpPr>
        <p:grpSpPr>
          <a:xfrm rot="0">
            <a:off x="950595" y="3762375"/>
            <a:ext cx="6259830" cy="1390650"/>
            <a:chOff x="0" y="0"/>
            <a:chExt cx="8346440" cy="1854200"/>
          </a:xfrm>
        </p:grpSpPr>
        <p:sp>
          <p:nvSpPr>
            <p:cNvPr name="Freeform 12" id="12"/>
            <p:cNvSpPr/>
            <p:nvPr/>
          </p:nvSpPr>
          <p:spPr>
            <a:xfrm flipH="false" flipV="false" rot="0">
              <a:off x="0" y="0"/>
              <a:ext cx="8346440" cy="1854200"/>
            </a:xfrm>
            <a:custGeom>
              <a:avLst/>
              <a:gdLst/>
              <a:ahLst/>
              <a:cxnLst/>
              <a:rect r="r" b="b" t="t" l="l"/>
              <a:pathLst>
                <a:path h="1854200" w="8346440">
                  <a:moveTo>
                    <a:pt x="0" y="185420"/>
                  </a:moveTo>
                  <a:cubicBezTo>
                    <a:pt x="0" y="83058"/>
                    <a:pt x="83058" y="0"/>
                    <a:pt x="185420" y="0"/>
                  </a:cubicBezTo>
                  <a:lnTo>
                    <a:pt x="8161020" y="0"/>
                  </a:lnTo>
                  <a:cubicBezTo>
                    <a:pt x="8263382" y="0"/>
                    <a:pt x="8346440" y="83058"/>
                    <a:pt x="8346440" y="185420"/>
                  </a:cubicBezTo>
                  <a:lnTo>
                    <a:pt x="8346440" y="1668780"/>
                  </a:lnTo>
                  <a:cubicBezTo>
                    <a:pt x="8346440" y="1771142"/>
                    <a:pt x="8263382" y="1854200"/>
                    <a:pt x="8161020" y="1854200"/>
                  </a:cubicBezTo>
                  <a:lnTo>
                    <a:pt x="185420" y="1854200"/>
                  </a:lnTo>
                  <a:cubicBezTo>
                    <a:pt x="83058" y="1854200"/>
                    <a:pt x="0" y="1771142"/>
                    <a:pt x="0" y="1668780"/>
                  </a:cubicBezTo>
                  <a:close/>
                </a:path>
              </a:pathLst>
            </a:custGeom>
            <a:solidFill>
              <a:srgbClr val="F4F7F8"/>
            </a:solidFill>
            <a:ln w="19050" cap="sq">
              <a:solidFill>
                <a:srgbClr val="E2E8ED"/>
              </a:solidFill>
              <a:prstDash val="solid"/>
              <a:miter/>
            </a:ln>
          </p:spPr>
        </p:sp>
      </p:grpSp>
      <p:grpSp>
        <p:nvGrpSpPr>
          <p:cNvPr name="Group 13" id="13"/>
          <p:cNvGrpSpPr/>
          <p:nvPr/>
        </p:nvGrpSpPr>
        <p:grpSpPr>
          <a:xfrm rot="0">
            <a:off x="1234440" y="4114800"/>
            <a:ext cx="685800" cy="685800"/>
            <a:chOff x="0" y="0"/>
            <a:chExt cx="914400" cy="914400"/>
          </a:xfrm>
        </p:grpSpPr>
        <p:sp>
          <p:nvSpPr>
            <p:cNvPr name="Freeform 14" id="1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E7EDEF"/>
            </a:solidFill>
          </p:spPr>
        </p:sp>
      </p:grpSp>
      <p:grpSp>
        <p:nvGrpSpPr>
          <p:cNvPr name="Group 15" id="15"/>
          <p:cNvGrpSpPr/>
          <p:nvPr/>
        </p:nvGrpSpPr>
        <p:grpSpPr>
          <a:xfrm rot="0">
            <a:off x="1399032" y="4279392"/>
            <a:ext cx="356616" cy="356616"/>
            <a:chOff x="0" y="0"/>
            <a:chExt cx="475488" cy="475488"/>
          </a:xfrm>
        </p:grpSpPr>
        <p:sp>
          <p:nvSpPr>
            <p:cNvPr name="Freeform 16" id="16" descr="/home/claude/proj/icons/search_teal.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4"/>
              <a:stretch>
                <a:fillRect l="0" t="0" r="0" b="0"/>
              </a:stretch>
            </a:blipFill>
          </p:spPr>
        </p:sp>
      </p:grpSp>
      <p:grpSp>
        <p:nvGrpSpPr>
          <p:cNvPr name="Group 17" id="17"/>
          <p:cNvGrpSpPr/>
          <p:nvPr/>
        </p:nvGrpSpPr>
        <p:grpSpPr>
          <a:xfrm rot="0">
            <a:off x="2125980" y="3936492"/>
            <a:ext cx="4869180" cy="1042416"/>
            <a:chOff x="0" y="0"/>
            <a:chExt cx="6492240" cy="1389888"/>
          </a:xfrm>
        </p:grpSpPr>
        <p:sp>
          <p:nvSpPr>
            <p:cNvPr name="Freeform 18" id="18"/>
            <p:cNvSpPr/>
            <p:nvPr/>
          </p:nvSpPr>
          <p:spPr>
            <a:xfrm flipH="false" flipV="false" rot="0">
              <a:off x="0" y="0"/>
              <a:ext cx="6492240" cy="1389888"/>
            </a:xfrm>
            <a:custGeom>
              <a:avLst/>
              <a:gdLst/>
              <a:ahLst/>
              <a:cxnLst/>
              <a:rect r="r" b="b" t="t" l="l"/>
              <a:pathLst>
                <a:path h="1389888" w="6492240">
                  <a:moveTo>
                    <a:pt x="0" y="0"/>
                  </a:moveTo>
                  <a:lnTo>
                    <a:pt x="6492240" y="0"/>
                  </a:lnTo>
                  <a:lnTo>
                    <a:pt x="6492240" y="1389888"/>
                  </a:lnTo>
                  <a:lnTo>
                    <a:pt x="0" y="1389888"/>
                  </a:lnTo>
                  <a:close/>
                </a:path>
              </a:pathLst>
            </a:custGeom>
            <a:blipFill>
              <a:blip r:embed="rId3">
                <a:alphaModFix amt="0"/>
              </a:blip>
              <a:stretch>
                <a:fillRect l="0" t="-41015" r="0" b="-41015"/>
              </a:stretch>
            </a:blipFill>
          </p:spPr>
        </p:sp>
        <p:sp>
          <p:nvSpPr>
            <p:cNvPr name="TextBox 19" id="19"/>
            <p:cNvSpPr txBox="true"/>
            <p:nvPr/>
          </p:nvSpPr>
          <p:spPr>
            <a:xfrm>
              <a:off x="0" y="-57150"/>
              <a:ext cx="6492240" cy="1447038"/>
            </a:xfrm>
            <a:prstGeom prst="rect">
              <a:avLst/>
            </a:prstGeom>
          </p:spPr>
          <p:txBody>
            <a:bodyPr anchor="ctr" rtlCol="false" tIns="0" lIns="0" bIns="0" rIns="0"/>
            <a:lstStyle/>
            <a:p>
              <a:pPr algn="l">
                <a:lnSpc>
                  <a:spcPts val="2277"/>
                </a:lnSpc>
              </a:pPr>
              <a:r>
                <a:rPr lang="en-US" sz="1725">
                  <a:solidFill>
                    <a:srgbClr val="5C7080"/>
                  </a:solidFill>
                  <a:latin typeface="Calibri (MS)"/>
                  <a:ea typeface="Calibri (MS)"/>
                  <a:cs typeface="Calibri (MS)"/>
                  <a:sym typeface="Calibri (MS)"/>
                </a:rPr>
                <a:t>No visibility into free rooms</a:t>
              </a:r>
            </a:p>
          </p:txBody>
        </p:sp>
      </p:grpSp>
      <p:grpSp>
        <p:nvGrpSpPr>
          <p:cNvPr name="Group 20" id="20"/>
          <p:cNvGrpSpPr/>
          <p:nvPr/>
        </p:nvGrpSpPr>
        <p:grpSpPr>
          <a:xfrm rot="0">
            <a:off x="7406640" y="4251960"/>
            <a:ext cx="754380" cy="411480"/>
            <a:chOff x="0" y="0"/>
            <a:chExt cx="1005840" cy="548640"/>
          </a:xfrm>
        </p:grpSpPr>
        <p:sp>
          <p:nvSpPr>
            <p:cNvPr name="Freeform 21" id="21"/>
            <p:cNvSpPr/>
            <p:nvPr/>
          </p:nvSpPr>
          <p:spPr>
            <a:xfrm flipH="false" flipV="false" rot="0">
              <a:off x="0" y="0"/>
              <a:ext cx="1005840" cy="548640"/>
            </a:xfrm>
            <a:custGeom>
              <a:avLst/>
              <a:gdLst/>
              <a:ahLst/>
              <a:cxnLst/>
              <a:rect r="r" b="b" t="t" l="l"/>
              <a:pathLst>
                <a:path h="548640" w="1005840">
                  <a:moveTo>
                    <a:pt x="0" y="137160"/>
                  </a:moveTo>
                  <a:lnTo>
                    <a:pt x="731520" y="137160"/>
                  </a:lnTo>
                  <a:lnTo>
                    <a:pt x="731520" y="0"/>
                  </a:lnTo>
                  <a:lnTo>
                    <a:pt x="1005840" y="274320"/>
                  </a:lnTo>
                  <a:lnTo>
                    <a:pt x="731520" y="548640"/>
                  </a:lnTo>
                  <a:lnTo>
                    <a:pt x="731520" y="411480"/>
                  </a:lnTo>
                  <a:lnTo>
                    <a:pt x="0" y="411480"/>
                  </a:lnTo>
                  <a:close/>
                </a:path>
              </a:pathLst>
            </a:custGeom>
            <a:solidFill>
              <a:srgbClr val="02C39A"/>
            </a:solidFill>
          </p:spPr>
        </p:sp>
      </p:grpSp>
      <p:grpSp>
        <p:nvGrpSpPr>
          <p:cNvPr name="Group 22" id="22"/>
          <p:cNvGrpSpPr/>
          <p:nvPr/>
        </p:nvGrpSpPr>
        <p:grpSpPr>
          <a:xfrm rot="0">
            <a:off x="8435340" y="3771900"/>
            <a:ext cx="8846820" cy="1371600"/>
            <a:chOff x="0" y="0"/>
            <a:chExt cx="11795760" cy="1828800"/>
          </a:xfrm>
        </p:grpSpPr>
        <p:sp>
          <p:nvSpPr>
            <p:cNvPr name="Freeform 23" id="23"/>
            <p:cNvSpPr/>
            <p:nvPr/>
          </p:nvSpPr>
          <p:spPr>
            <a:xfrm flipH="false" flipV="false" rot="0">
              <a:off x="0" y="0"/>
              <a:ext cx="11795760" cy="1828800"/>
            </a:xfrm>
            <a:custGeom>
              <a:avLst/>
              <a:gdLst/>
              <a:ahLst/>
              <a:cxnLst/>
              <a:rect r="r" b="b" t="t" l="l"/>
              <a:pathLst>
                <a:path h="1828800" w="11795760">
                  <a:moveTo>
                    <a:pt x="0" y="182880"/>
                  </a:moveTo>
                  <a:cubicBezTo>
                    <a:pt x="0" y="81915"/>
                    <a:pt x="81915" y="0"/>
                    <a:pt x="182880" y="0"/>
                  </a:cubicBezTo>
                  <a:lnTo>
                    <a:pt x="11612880" y="0"/>
                  </a:lnTo>
                  <a:cubicBezTo>
                    <a:pt x="11713845" y="0"/>
                    <a:pt x="11795760" y="81915"/>
                    <a:pt x="11795760" y="182880"/>
                  </a:cubicBezTo>
                  <a:lnTo>
                    <a:pt x="11795760" y="1645920"/>
                  </a:lnTo>
                  <a:cubicBezTo>
                    <a:pt x="11795760" y="1746885"/>
                    <a:pt x="11713845" y="1828800"/>
                    <a:pt x="11612880" y="1828800"/>
                  </a:cubicBezTo>
                  <a:lnTo>
                    <a:pt x="182880" y="1828800"/>
                  </a:lnTo>
                  <a:cubicBezTo>
                    <a:pt x="81915" y="1828800"/>
                    <a:pt x="0" y="1746885"/>
                    <a:pt x="0" y="1645920"/>
                  </a:cubicBezTo>
                  <a:close/>
                </a:path>
              </a:pathLst>
            </a:custGeom>
            <a:solidFill>
              <a:srgbClr val="05375A"/>
            </a:solidFill>
          </p:spPr>
        </p:sp>
      </p:grpSp>
      <p:grpSp>
        <p:nvGrpSpPr>
          <p:cNvPr name="Group 24" id="24"/>
          <p:cNvGrpSpPr/>
          <p:nvPr/>
        </p:nvGrpSpPr>
        <p:grpSpPr>
          <a:xfrm rot="0">
            <a:off x="8915400" y="3771900"/>
            <a:ext cx="7955280" cy="1371600"/>
            <a:chOff x="0" y="0"/>
            <a:chExt cx="10607040" cy="1828800"/>
          </a:xfrm>
        </p:grpSpPr>
        <p:sp>
          <p:nvSpPr>
            <p:cNvPr name="Freeform 25" id="25"/>
            <p:cNvSpPr/>
            <p:nvPr/>
          </p:nvSpPr>
          <p:spPr>
            <a:xfrm flipH="false" flipV="false" rot="0">
              <a:off x="0" y="0"/>
              <a:ext cx="10607040" cy="1828800"/>
            </a:xfrm>
            <a:custGeom>
              <a:avLst/>
              <a:gdLst/>
              <a:ahLst/>
              <a:cxnLst/>
              <a:rect r="r" b="b" t="t" l="l"/>
              <a:pathLst>
                <a:path h="1828800" w="10607040">
                  <a:moveTo>
                    <a:pt x="0" y="0"/>
                  </a:moveTo>
                  <a:lnTo>
                    <a:pt x="10607040" y="0"/>
                  </a:lnTo>
                  <a:lnTo>
                    <a:pt x="10607040" y="1828800"/>
                  </a:lnTo>
                  <a:lnTo>
                    <a:pt x="0" y="1828800"/>
                  </a:lnTo>
                  <a:close/>
                </a:path>
              </a:pathLst>
            </a:custGeom>
            <a:blipFill>
              <a:blip r:embed="rId3">
                <a:alphaModFix amt="0"/>
              </a:blip>
              <a:stretch>
                <a:fillRect l="0" t="-63013" r="0" b="-63013"/>
              </a:stretch>
            </a:blipFill>
          </p:spPr>
        </p:sp>
        <p:sp>
          <p:nvSpPr>
            <p:cNvPr name="TextBox 26" id="26"/>
            <p:cNvSpPr txBox="true"/>
            <p:nvPr/>
          </p:nvSpPr>
          <p:spPr>
            <a:xfrm>
              <a:off x="0" y="-76200"/>
              <a:ext cx="10607040" cy="1905000"/>
            </a:xfrm>
            <a:prstGeom prst="rect">
              <a:avLst/>
            </a:prstGeom>
          </p:spPr>
          <p:txBody>
            <a:bodyPr anchor="ctr" rtlCol="false" tIns="0" lIns="0" bIns="0" rIns="0"/>
            <a:lstStyle/>
            <a:p>
              <a:pPr algn="l">
                <a:lnSpc>
                  <a:spcPts val="2690"/>
                </a:lnSpc>
              </a:pPr>
              <a:r>
                <a:rPr lang="en-US" sz="1950" b="true">
                  <a:solidFill>
                    <a:srgbClr val="FFFFFF"/>
                  </a:solidFill>
                  <a:latin typeface="Calibri (MS) Bold"/>
                  <a:ea typeface="Calibri (MS) Bold"/>
                  <a:cs typeface="Calibri (MS) Bold"/>
                  <a:sym typeface="Calibri (MS) Bold"/>
                </a:rPr>
                <a:t>Live room availability, capacity &amp; schedule views</a:t>
              </a:r>
            </a:p>
          </p:txBody>
        </p:sp>
      </p:grpSp>
      <p:grpSp>
        <p:nvGrpSpPr>
          <p:cNvPr name="Group 27" id="27"/>
          <p:cNvGrpSpPr/>
          <p:nvPr/>
        </p:nvGrpSpPr>
        <p:grpSpPr>
          <a:xfrm rot="0">
            <a:off x="950595" y="5545455"/>
            <a:ext cx="6259830" cy="1390650"/>
            <a:chOff x="0" y="0"/>
            <a:chExt cx="8346440" cy="1854200"/>
          </a:xfrm>
        </p:grpSpPr>
        <p:sp>
          <p:nvSpPr>
            <p:cNvPr name="Freeform 28" id="28"/>
            <p:cNvSpPr/>
            <p:nvPr/>
          </p:nvSpPr>
          <p:spPr>
            <a:xfrm flipH="false" flipV="false" rot="0">
              <a:off x="0" y="0"/>
              <a:ext cx="8346440" cy="1854200"/>
            </a:xfrm>
            <a:custGeom>
              <a:avLst/>
              <a:gdLst/>
              <a:ahLst/>
              <a:cxnLst/>
              <a:rect r="r" b="b" t="t" l="l"/>
              <a:pathLst>
                <a:path h="1854200" w="8346440">
                  <a:moveTo>
                    <a:pt x="0" y="185420"/>
                  </a:moveTo>
                  <a:cubicBezTo>
                    <a:pt x="0" y="83058"/>
                    <a:pt x="83058" y="0"/>
                    <a:pt x="185420" y="0"/>
                  </a:cubicBezTo>
                  <a:lnTo>
                    <a:pt x="8161020" y="0"/>
                  </a:lnTo>
                  <a:cubicBezTo>
                    <a:pt x="8263382" y="0"/>
                    <a:pt x="8346440" y="83058"/>
                    <a:pt x="8346440" y="185420"/>
                  </a:cubicBezTo>
                  <a:lnTo>
                    <a:pt x="8346440" y="1668780"/>
                  </a:lnTo>
                  <a:cubicBezTo>
                    <a:pt x="8346440" y="1771142"/>
                    <a:pt x="8263382" y="1854200"/>
                    <a:pt x="8161020" y="1854200"/>
                  </a:cubicBezTo>
                  <a:lnTo>
                    <a:pt x="185420" y="1854200"/>
                  </a:lnTo>
                  <a:cubicBezTo>
                    <a:pt x="83058" y="1854200"/>
                    <a:pt x="0" y="1771142"/>
                    <a:pt x="0" y="1668780"/>
                  </a:cubicBezTo>
                  <a:close/>
                </a:path>
              </a:pathLst>
            </a:custGeom>
            <a:solidFill>
              <a:srgbClr val="F4F7F8"/>
            </a:solidFill>
            <a:ln w="19050" cap="sq">
              <a:solidFill>
                <a:srgbClr val="E2E8ED"/>
              </a:solidFill>
              <a:prstDash val="solid"/>
              <a:miter/>
            </a:ln>
          </p:spPr>
        </p:sp>
      </p:grpSp>
      <p:grpSp>
        <p:nvGrpSpPr>
          <p:cNvPr name="Group 29" id="29"/>
          <p:cNvGrpSpPr/>
          <p:nvPr/>
        </p:nvGrpSpPr>
        <p:grpSpPr>
          <a:xfrm rot="0">
            <a:off x="1234440" y="58978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E7EDEF"/>
            </a:solidFill>
          </p:spPr>
        </p:sp>
      </p:grpSp>
      <p:grpSp>
        <p:nvGrpSpPr>
          <p:cNvPr name="Group 31" id="31"/>
          <p:cNvGrpSpPr/>
          <p:nvPr/>
        </p:nvGrpSpPr>
        <p:grpSpPr>
          <a:xfrm rot="0">
            <a:off x="1399032" y="6062472"/>
            <a:ext cx="356616" cy="356616"/>
            <a:chOff x="0" y="0"/>
            <a:chExt cx="475488" cy="475488"/>
          </a:xfrm>
        </p:grpSpPr>
        <p:sp>
          <p:nvSpPr>
            <p:cNvPr name="Freeform 32" id="32" descr="/home/claude/proj/icons/users_teal.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5"/>
              <a:stretch>
                <a:fillRect l="0" t="0" r="0" b="0"/>
              </a:stretch>
            </a:blipFill>
          </p:spPr>
        </p:sp>
      </p:grpSp>
      <p:grpSp>
        <p:nvGrpSpPr>
          <p:cNvPr name="Group 33" id="33"/>
          <p:cNvGrpSpPr/>
          <p:nvPr/>
        </p:nvGrpSpPr>
        <p:grpSpPr>
          <a:xfrm rot="0">
            <a:off x="2125980" y="5719572"/>
            <a:ext cx="4869180" cy="1042416"/>
            <a:chOff x="0" y="0"/>
            <a:chExt cx="6492240" cy="1389888"/>
          </a:xfrm>
        </p:grpSpPr>
        <p:sp>
          <p:nvSpPr>
            <p:cNvPr name="Freeform 34" id="34"/>
            <p:cNvSpPr/>
            <p:nvPr/>
          </p:nvSpPr>
          <p:spPr>
            <a:xfrm flipH="false" flipV="false" rot="0">
              <a:off x="0" y="0"/>
              <a:ext cx="6492240" cy="1389888"/>
            </a:xfrm>
            <a:custGeom>
              <a:avLst/>
              <a:gdLst/>
              <a:ahLst/>
              <a:cxnLst/>
              <a:rect r="r" b="b" t="t" l="l"/>
              <a:pathLst>
                <a:path h="1389888" w="6492240">
                  <a:moveTo>
                    <a:pt x="0" y="0"/>
                  </a:moveTo>
                  <a:lnTo>
                    <a:pt x="6492240" y="0"/>
                  </a:lnTo>
                  <a:lnTo>
                    <a:pt x="6492240" y="1389888"/>
                  </a:lnTo>
                  <a:lnTo>
                    <a:pt x="0" y="1389888"/>
                  </a:lnTo>
                  <a:close/>
                </a:path>
              </a:pathLst>
            </a:custGeom>
            <a:blipFill>
              <a:blip r:embed="rId3">
                <a:alphaModFix amt="0"/>
              </a:blip>
              <a:stretch>
                <a:fillRect l="0" t="-41015" r="0" b="-41015"/>
              </a:stretch>
            </a:blipFill>
          </p:spPr>
        </p:sp>
        <p:sp>
          <p:nvSpPr>
            <p:cNvPr name="TextBox 35" id="35"/>
            <p:cNvSpPr txBox="true"/>
            <p:nvPr/>
          </p:nvSpPr>
          <p:spPr>
            <a:xfrm>
              <a:off x="0" y="-57150"/>
              <a:ext cx="6492240" cy="1447038"/>
            </a:xfrm>
            <a:prstGeom prst="rect">
              <a:avLst/>
            </a:prstGeom>
          </p:spPr>
          <p:txBody>
            <a:bodyPr anchor="ctr" rtlCol="false" tIns="0" lIns="0" bIns="0" rIns="0"/>
            <a:lstStyle/>
            <a:p>
              <a:pPr algn="l">
                <a:lnSpc>
                  <a:spcPts val="2277"/>
                </a:lnSpc>
              </a:pPr>
              <a:r>
                <a:rPr lang="en-US" sz="1725">
                  <a:solidFill>
                    <a:srgbClr val="5C7080"/>
                  </a:solidFill>
                  <a:latin typeface="Calibri (MS)"/>
                  <a:ea typeface="Calibri (MS)"/>
                  <a:cs typeface="Calibri (MS)"/>
                  <a:sym typeface="Calibri (MS)"/>
                </a:rPr>
                <a:t>Spot registrations exceed capacity</a:t>
              </a:r>
            </a:p>
          </p:txBody>
        </p:sp>
      </p:grpSp>
      <p:grpSp>
        <p:nvGrpSpPr>
          <p:cNvPr name="Group 36" id="36"/>
          <p:cNvGrpSpPr/>
          <p:nvPr/>
        </p:nvGrpSpPr>
        <p:grpSpPr>
          <a:xfrm rot="0">
            <a:off x="7406640" y="6035040"/>
            <a:ext cx="754380" cy="411480"/>
            <a:chOff x="0" y="0"/>
            <a:chExt cx="1005840" cy="548640"/>
          </a:xfrm>
        </p:grpSpPr>
        <p:sp>
          <p:nvSpPr>
            <p:cNvPr name="Freeform 37" id="37"/>
            <p:cNvSpPr/>
            <p:nvPr/>
          </p:nvSpPr>
          <p:spPr>
            <a:xfrm flipH="false" flipV="false" rot="0">
              <a:off x="0" y="0"/>
              <a:ext cx="1005840" cy="548640"/>
            </a:xfrm>
            <a:custGeom>
              <a:avLst/>
              <a:gdLst/>
              <a:ahLst/>
              <a:cxnLst/>
              <a:rect r="r" b="b" t="t" l="l"/>
              <a:pathLst>
                <a:path h="548640" w="1005840">
                  <a:moveTo>
                    <a:pt x="0" y="137160"/>
                  </a:moveTo>
                  <a:lnTo>
                    <a:pt x="731520" y="137160"/>
                  </a:lnTo>
                  <a:lnTo>
                    <a:pt x="731520" y="0"/>
                  </a:lnTo>
                  <a:lnTo>
                    <a:pt x="1005840" y="274320"/>
                  </a:lnTo>
                  <a:lnTo>
                    <a:pt x="731520" y="548640"/>
                  </a:lnTo>
                  <a:lnTo>
                    <a:pt x="731520" y="411480"/>
                  </a:lnTo>
                  <a:lnTo>
                    <a:pt x="0" y="411480"/>
                  </a:lnTo>
                  <a:close/>
                </a:path>
              </a:pathLst>
            </a:custGeom>
            <a:solidFill>
              <a:srgbClr val="02C39A"/>
            </a:solidFill>
          </p:spPr>
        </p:sp>
      </p:grpSp>
      <p:grpSp>
        <p:nvGrpSpPr>
          <p:cNvPr name="Group 38" id="38"/>
          <p:cNvGrpSpPr/>
          <p:nvPr/>
        </p:nvGrpSpPr>
        <p:grpSpPr>
          <a:xfrm rot="0">
            <a:off x="8435340" y="5554980"/>
            <a:ext cx="8846820" cy="1371600"/>
            <a:chOff x="0" y="0"/>
            <a:chExt cx="11795760" cy="1828800"/>
          </a:xfrm>
        </p:grpSpPr>
        <p:sp>
          <p:nvSpPr>
            <p:cNvPr name="Freeform 39" id="39"/>
            <p:cNvSpPr/>
            <p:nvPr/>
          </p:nvSpPr>
          <p:spPr>
            <a:xfrm flipH="false" flipV="false" rot="0">
              <a:off x="0" y="0"/>
              <a:ext cx="11795760" cy="1828800"/>
            </a:xfrm>
            <a:custGeom>
              <a:avLst/>
              <a:gdLst/>
              <a:ahLst/>
              <a:cxnLst/>
              <a:rect r="r" b="b" t="t" l="l"/>
              <a:pathLst>
                <a:path h="1828800" w="11795760">
                  <a:moveTo>
                    <a:pt x="0" y="182880"/>
                  </a:moveTo>
                  <a:cubicBezTo>
                    <a:pt x="0" y="81915"/>
                    <a:pt x="81915" y="0"/>
                    <a:pt x="182880" y="0"/>
                  </a:cubicBezTo>
                  <a:lnTo>
                    <a:pt x="11612880" y="0"/>
                  </a:lnTo>
                  <a:cubicBezTo>
                    <a:pt x="11713845" y="0"/>
                    <a:pt x="11795760" y="81915"/>
                    <a:pt x="11795760" y="182880"/>
                  </a:cubicBezTo>
                  <a:lnTo>
                    <a:pt x="11795760" y="1645920"/>
                  </a:lnTo>
                  <a:cubicBezTo>
                    <a:pt x="11795760" y="1746885"/>
                    <a:pt x="11713845" y="1828800"/>
                    <a:pt x="11612880" y="1828800"/>
                  </a:cubicBezTo>
                  <a:lnTo>
                    <a:pt x="182880" y="1828800"/>
                  </a:lnTo>
                  <a:cubicBezTo>
                    <a:pt x="81915" y="1828800"/>
                    <a:pt x="0" y="1746885"/>
                    <a:pt x="0" y="1645920"/>
                  </a:cubicBezTo>
                  <a:close/>
                </a:path>
              </a:pathLst>
            </a:custGeom>
            <a:solidFill>
              <a:srgbClr val="05375A"/>
            </a:solidFill>
          </p:spPr>
        </p:sp>
      </p:grpSp>
      <p:grpSp>
        <p:nvGrpSpPr>
          <p:cNvPr name="Group 40" id="40"/>
          <p:cNvGrpSpPr/>
          <p:nvPr/>
        </p:nvGrpSpPr>
        <p:grpSpPr>
          <a:xfrm rot="0">
            <a:off x="8915400" y="5554980"/>
            <a:ext cx="7955280" cy="1371600"/>
            <a:chOff x="0" y="0"/>
            <a:chExt cx="10607040" cy="1828800"/>
          </a:xfrm>
        </p:grpSpPr>
        <p:sp>
          <p:nvSpPr>
            <p:cNvPr name="Freeform 41" id="41"/>
            <p:cNvSpPr/>
            <p:nvPr/>
          </p:nvSpPr>
          <p:spPr>
            <a:xfrm flipH="false" flipV="false" rot="0">
              <a:off x="0" y="0"/>
              <a:ext cx="10607040" cy="1828800"/>
            </a:xfrm>
            <a:custGeom>
              <a:avLst/>
              <a:gdLst/>
              <a:ahLst/>
              <a:cxnLst/>
              <a:rect r="r" b="b" t="t" l="l"/>
              <a:pathLst>
                <a:path h="1828800" w="10607040">
                  <a:moveTo>
                    <a:pt x="0" y="0"/>
                  </a:moveTo>
                  <a:lnTo>
                    <a:pt x="10607040" y="0"/>
                  </a:lnTo>
                  <a:lnTo>
                    <a:pt x="10607040" y="1828800"/>
                  </a:lnTo>
                  <a:lnTo>
                    <a:pt x="0" y="1828800"/>
                  </a:lnTo>
                  <a:close/>
                </a:path>
              </a:pathLst>
            </a:custGeom>
            <a:blipFill>
              <a:blip r:embed="rId3">
                <a:alphaModFix amt="0"/>
              </a:blip>
              <a:stretch>
                <a:fillRect l="0" t="-63013" r="0" b="-63013"/>
              </a:stretch>
            </a:blipFill>
          </p:spPr>
        </p:sp>
        <p:sp>
          <p:nvSpPr>
            <p:cNvPr name="TextBox 42" id="42"/>
            <p:cNvSpPr txBox="true"/>
            <p:nvPr/>
          </p:nvSpPr>
          <p:spPr>
            <a:xfrm>
              <a:off x="0" y="-76200"/>
              <a:ext cx="10607040" cy="1905000"/>
            </a:xfrm>
            <a:prstGeom prst="rect">
              <a:avLst/>
            </a:prstGeom>
          </p:spPr>
          <p:txBody>
            <a:bodyPr anchor="ctr" rtlCol="false" tIns="0" lIns="0" bIns="0" rIns="0"/>
            <a:lstStyle/>
            <a:p>
              <a:pPr algn="l">
                <a:lnSpc>
                  <a:spcPts val="2690"/>
                </a:lnSpc>
              </a:pPr>
              <a:r>
                <a:rPr lang="en-US" sz="1950" b="true">
                  <a:solidFill>
                    <a:srgbClr val="FFFFFF"/>
                  </a:solidFill>
                  <a:latin typeface="Calibri (MS) Bold"/>
                  <a:ea typeface="Calibri (MS) Bold"/>
                  <a:cs typeface="Calibri (MS) Bold"/>
                  <a:sym typeface="Calibri (MS) Bold"/>
                </a:rPr>
                <a:t>Real-time tracking of expected vs. actual participants</a:t>
              </a:r>
            </a:p>
          </p:txBody>
        </p:sp>
      </p:grpSp>
      <p:grpSp>
        <p:nvGrpSpPr>
          <p:cNvPr name="Group 43" id="43"/>
          <p:cNvGrpSpPr/>
          <p:nvPr/>
        </p:nvGrpSpPr>
        <p:grpSpPr>
          <a:xfrm rot="0">
            <a:off x="950595" y="7328535"/>
            <a:ext cx="6259830" cy="1390650"/>
            <a:chOff x="0" y="0"/>
            <a:chExt cx="8346440" cy="1854200"/>
          </a:xfrm>
        </p:grpSpPr>
        <p:sp>
          <p:nvSpPr>
            <p:cNvPr name="Freeform 44" id="44"/>
            <p:cNvSpPr/>
            <p:nvPr/>
          </p:nvSpPr>
          <p:spPr>
            <a:xfrm flipH="false" flipV="false" rot="0">
              <a:off x="0" y="0"/>
              <a:ext cx="8346440" cy="1854200"/>
            </a:xfrm>
            <a:custGeom>
              <a:avLst/>
              <a:gdLst/>
              <a:ahLst/>
              <a:cxnLst/>
              <a:rect r="r" b="b" t="t" l="l"/>
              <a:pathLst>
                <a:path h="1854200" w="8346440">
                  <a:moveTo>
                    <a:pt x="0" y="185420"/>
                  </a:moveTo>
                  <a:cubicBezTo>
                    <a:pt x="0" y="83058"/>
                    <a:pt x="83058" y="0"/>
                    <a:pt x="185420" y="0"/>
                  </a:cubicBezTo>
                  <a:lnTo>
                    <a:pt x="8161020" y="0"/>
                  </a:lnTo>
                  <a:cubicBezTo>
                    <a:pt x="8263382" y="0"/>
                    <a:pt x="8346440" y="83058"/>
                    <a:pt x="8346440" y="185420"/>
                  </a:cubicBezTo>
                  <a:lnTo>
                    <a:pt x="8346440" y="1668780"/>
                  </a:lnTo>
                  <a:cubicBezTo>
                    <a:pt x="8346440" y="1771142"/>
                    <a:pt x="8263382" y="1854200"/>
                    <a:pt x="8161020" y="1854200"/>
                  </a:cubicBezTo>
                  <a:lnTo>
                    <a:pt x="185420" y="1854200"/>
                  </a:lnTo>
                  <a:cubicBezTo>
                    <a:pt x="83058" y="1854200"/>
                    <a:pt x="0" y="1771142"/>
                    <a:pt x="0" y="1668780"/>
                  </a:cubicBezTo>
                  <a:close/>
                </a:path>
              </a:pathLst>
            </a:custGeom>
            <a:solidFill>
              <a:srgbClr val="F4F7F8"/>
            </a:solidFill>
            <a:ln w="19050" cap="sq">
              <a:solidFill>
                <a:srgbClr val="E2E8ED"/>
              </a:solidFill>
              <a:prstDash val="solid"/>
              <a:miter/>
            </a:ln>
          </p:spPr>
        </p:sp>
      </p:grpSp>
      <p:grpSp>
        <p:nvGrpSpPr>
          <p:cNvPr name="Group 45" id="45"/>
          <p:cNvGrpSpPr/>
          <p:nvPr/>
        </p:nvGrpSpPr>
        <p:grpSpPr>
          <a:xfrm rot="0">
            <a:off x="1234440" y="7680960"/>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E7EDEF"/>
            </a:solidFill>
          </p:spPr>
        </p:sp>
      </p:grpSp>
      <p:grpSp>
        <p:nvGrpSpPr>
          <p:cNvPr name="Group 47" id="47"/>
          <p:cNvGrpSpPr/>
          <p:nvPr/>
        </p:nvGrpSpPr>
        <p:grpSpPr>
          <a:xfrm rot="0">
            <a:off x="1399032" y="7845552"/>
            <a:ext cx="356616" cy="356616"/>
            <a:chOff x="0" y="0"/>
            <a:chExt cx="475488" cy="475488"/>
          </a:xfrm>
        </p:grpSpPr>
        <p:sp>
          <p:nvSpPr>
            <p:cNvPr name="Freeform 48" id="48" descr="/home/claude/proj/icons/warning_teal.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6"/>
              <a:stretch>
                <a:fillRect l="0" t="0" r="0" b="0"/>
              </a:stretch>
            </a:blipFill>
          </p:spPr>
        </p:sp>
      </p:grpSp>
      <p:grpSp>
        <p:nvGrpSpPr>
          <p:cNvPr name="Group 49" id="49"/>
          <p:cNvGrpSpPr/>
          <p:nvPr/>
        </p:nvGrpSpPr>
        <p:grpSpPr>
          <a:xfrm rot="0">
            <a:off x="2125980" y="7502652"/>
            <a:ext cx="4869180" cy="1042416"/>
            <a:chOff x="0" y="0"/>
            <a:chExt cx="6492240" cy="1389888"/>
          </a:xfrm>
        </p:grpSpPr>
        <p:sp>
          <p:nvSpPr>
            <p:cNvPr name="Freeform 50" id="50"/>
            <p:cNvSpPr/>
            <p:nvPr/>
          </p:nvSpPr>
          <p:spPr>
            <a:xfrm flipH="false" flipV="false" rot="0">
              <a:off x="0" y="0"/>
              <a:ext cx="6492240" cy="1389888"/>
            </a:xfrm>
            <a:custGeom>
              <a:avLst/>
              <a:gdLst/>
              <a:ahLst/>
              <a:cxnLst/>
              <a:rect r="r" b="b" t="t" l="l"/>
              <a:pathLst>
                <a:path h="1389888" w="6492240">
                  <a:moveTo>
                    <a:pt x="0" y="0"/>
                  </a:moveTo>
                  <a:lnTo>
                    <a:pt x="6492240" y="0"/>
                  </a:lnTo>
                  <a:lnTo>
                    <a:pt x="6492240" y="1389888"/>
                  </a:lnTo>
                  <a:lnTo>
                    <a:pt x="0" y="1389888"/>
                  </a:lnTo>
                  <a:close/>
                </a:path>
              </a:pathLst>
            </a:custGeom>
            <a:blipFill>
              <a:blip r:embed="rId3">
                <a:alphaModFix amt="0"/>
              </a:blip>
              <a:stretch>
                <a:fillRect l="0" t="-41015" r="0" b="-41015"/>
              </a:stretch>
            </a:blipFill>
          </p:spPr>
        </p:sp>
        <p:sp>
          <p:nvSpPr>
            <p:cNvPr name="TextBox 51" id="51"/>
            <p:cNvSpPr txBox="true"/>
            <p:nvPr/>
          </p:nvSpPr>
          <p:spPr>
            <a:xfrm>
              <a:off x="0" y="-57150"/>
              <a:ext cx="6492240" cy="1447038"/>
            </a:xfrm>
            <a:prstGeom prst="rect">
              <a:avLst/>
            </a:prstGeom>
          </p:spPr>
          <p:txBody>
            <a:bodyPr anchor="ctr" rtlCol="false" tIns="0" lIns="0" bIns="0" rIns="0"/>
            <a:lstStyle/>
            <a:p>
              <a:pPr algn="l">
                <a:lnSpc>
                  <a:spcPts val="2277"/>
                </a:lnSpc>
              </a:pPr>
              <a:r>
                <a:rPr lang="en-US" sz="1725">
                  <a:solidFill>
                    <a:srgbClr val="5C7080"/>
                  </a:solidFill>
                  <a:latin typeface="Calibri (MS)"/>
                  <a:ea typeface="Calibri (MS)"/>
                  <a:cs typeface="Calibri (MS)"/>
                  <a:sym typeface="Calibri (MS)"/>
                </a:rPr>
                <a:t>Overcrowding &amp; double-booking</a:t>
              </a:r>
            </a:p>
          </p:txBody>
        </p:sp>
      </p:grpSp>
      <p:grpSp>
        <p:nvGrpSpPr>
          <p:cNvPr name="Group 52" id="52"/>
          <p:cNvGrpSpPr/>
          <p:nvPr/>
        </p:nvGrpSpPr>
        <p:grpSpPr>
          <a:xfrm rot="0">
            <a:off x="7406640" y="7818120"/>
            <a:ext cx="754380" cy="411480"/>
            <a:chOff x="0" y="0"/>
            <a:chExt cx="1005840" cy="548640"/>
          </a:xfrm>
        </p:grpSpPr>
        <p:sp>
          <p:nvSpPr>
            <p:cNvPr name="Freeform 53" id="53"/>
            <p:cNvSpPr/>
            <p:nvPr/>
          </p:nvSpPr>
          <p:spPr>
            <a:xfrm flipH="false" flipV="false" rot="0">
              <a:off x="0" y="0"/>
              <a:ext cx="1005840" cy="548640"/>
            </a:xfrm>
            <a:custGeom>
              <a:avLst/>
              <a:gdLst/>
              <a:ahLst/>
              <a:cxnLst/>
              <a:rect r="r" b="b" t="t" l="l"/>
              <a:pathLst>
                <a:path h="548640" w="1005840">
                  <a:moveTo>
                    <a:pt x="0" y="137160"/>
                  </a:moveTo>
                  <a:lnTo>
                    <a:pt x="731520" y="137160"/>
                  </a:lnTo>
                  <a:lnTo>
                    <a:pt x="731520" y="0"/>
                  </a:lnTo>
                  <a:lnTo>
                    <a:pt x="1005840" y="274320"/>
                  </a:lnTo>
                  <a:lnTo>
                    <a:pt x="731520" y="548640"/>
                  </a:lnTo>
                  <a:lnTo>
                    <a:pt x="731520" y="411480"/>
                  </a:lnTo>
                  <a:lnTo>
                    <a:pt x="0" y="411480"/>
                  </a:lnTo>
                  <a:close/>
                </a:path>
              </a:pathLst>
            </a:custGeom>
            <a:solidFill>
              <a:srgbClr val="02C39A"/>
            </a:solidFill>
          </p:spPr>
        </p:sp>
      </p:grpSp>
      <p:grpSp>
        <p:nvGrpSpPr>
          <p:cNvPr name="Group 54" id="54"/>
          <p:cNvGrpSpPr/>
          <p:nvPr/>
        </p:nvGrpSpPr>
        <p:grpSpPr>
          <a:xfrm rot="0">
            <a:off x="8435340" y="7338060"/>
            <a:ext cx="8846820" cy="1371600"/>
            <a:chOff x="0" y="0"/>
            <a:chExt cx="11795760" cy="1828800"/>
          </a:xfrm>
        </p:grpSpPr>
        <p:sp>
          <p:nvSpPr>
            <p:cNvPr name="Freeform 55" id="55"/>
            <p:cNvSpPr/>
            <p:nvPr/>
          </p:nvSpPr>
          <p:spPr>
            <a:xfrm flipH="false" flipV="false" rot="0">
              <a:off x="0" y="0"/>
              <a:ext cx="11795760" cy="1828800"/>
            </a:xfrm>
            <a:custGeom>
              <a:avLst/>
              <a:gdLst/>
              <a:ahLst/>
              <a:cxnLst/>
              <a:rect r="r" b="b" t="t" l="l"/>
              <a:pathLst>
                <a:path h="1828800" w="11795760">
                  <a:moveTo>
                    <a:pt x="0" y="182880"/>
                  </a:moveTo>
                  <a:cubicBezTo>
                    <a:pt x="0" y="81915"/>
                    <a:pt x="81915" y="0"/>
                    <a:pt x="182880" y="0"/>
                  </a:cubicBezTo>
                  <a:lnTo>
                    <a:pt x="11612880" y="0"/>
                  </a:lnTo>
                  <a:cubicBezTo>
                    <a:pt x="11713845" y="0"/>
                    <a:pt x="11795760" y="81915"/>
                    <a:pt x="11795760" y="182880"/>
                  </a:cubicBezTo>
                  <a:lnTo>
                    <a:pt x="11795760" y="1645920"/>
                  </a:lnTo>
                  <a:cubicBezTo>
                    <a:pt x="11795760" y="1746885"/>
                    <a:pt x="11713845" y="1828800"/>
                    <a:pt x="11612880" y="1828800"/>
                  </a:cubicBezTo>
                  <a:lnTo>
                    <a:pt x="182880" y="1828800"/>
                  </a:lnTo>
                  <a:cubicBezTo>
                    <a:pt x="81915" y="1828800"/>
                    <a:pt x="0" y="1746885"/>
                    <a:pt x="0" y="1645920"/>
                  </a:cubicBezTo>
                  <a:close/>
                </a:path>
              </a:pathLst>
            </a:custGeom>
            <a:solidFill>
              <a:srgbClr val="05375A"/>
            </a:solidFill>
          </p:spPr>
        </p:sp>
      </p:grpSp>
      <p:grpSp>
        <p:nvGrpSpPr>
          <p:cNvPr name="Group 56" id="56"/>
          <p:cNvGrpSpPr/>
          <p:nvPr/>
        </p:nvGrpSpPr>
        <p:grpSpPr>
          <a:xfrm rot="0">
            <a:off x="8915400" y="7338060"/>
            <a:ext cx="7955280" cy="1371600"/>
            <a:chOff x="0" y="0"/>
            <a:chExt cx="10607040" cy="1828800"/>
          </a:xfrm>
        </p:grpSpPr>
        <p:sp>
          <p:nvSpPr>
            <p:cNvPr name="Freeform 57" id="57"/>
            <p:cNvSpPr/>
            <p:nvPr/>
          </p:nvSpPr>
          <p:spPr>
            <a:xfrm flipH="false" flipV="false" rot="0">
              <a:off x="0" y="0"/>
              <a:ext cx="10607040" cy="1828800"/>
            </a:xfrm>
            <a:custGeom>
              <a:avLst/>
              <a:gdLst/>
              <a:ahLst/>
              <a:cxnLst/>
              <a:rect r="r" b="b" t="t" l="l"/>
              <a:pathLst>
                <a:path h="1828800" w="10607040">
                  <a:moveTo>
                    <a:pt x="0" y="0"/>
                  </a:moveTo>
                  <a:lnTo>
                    <a:pt x="10607040" y="0"/>
                  </a:lnTo>
                  <a:lnTo>
                    <a:pt x="10607040" y="1828800"/>
                  </a:lnTo>
                  <a:lnTo>
                    <a:pt x="0" y="1828800"/>
                  </a:lnTo>
                  <a:close/>
                </a:path>
              </a:pathLst>
            </a:custGeom>
            <a:blipFill>
              <a:blip r:embed="rId3">
                <a:alphaModFix amt="0"/>
              </a:blip>
              <a:stretch>
                <a:fillRect l="0" t="-63013" r="0" b="-63013"/>
              </a:stretch>
            </a:blipFill>
          </p:spPr>
        </p:sp>
        <p:sp>
          <p:nvSpPr>
            <p:cNvPr name="TextBox 58" id="58"/>
            <p:cNvSpPr txBox="true"/>
            <p:nvPr/>
          </p:nvSpPr>
          <p:spPr>
            <a:xfrm>
              <a:off x="0" y="-76200"/>
              <a:ext cx="10607040" cy="1905000"/>
            </a:xfrm>
            <a:prstGeom prst="rect">
              <a:avLst/>
            </a:prstGeom>
          </p:spPr>
          <p:txBody>
            <a:bodyPr anchor="ctr" rtlCol="false" tIns="0" lIns="0" bIns="0" rIns="0"/>
            <a:lstStyle/>
            <a:p>
              <a:pPr algn="l">
                <a:lnSpc>
                  <a:spcPts val="2690"/>
                </a:lnSpc>
              </a:pPr>
              <a:r>
                <a:rPr lang="en-US" sz="1950" b="true">
                  <a:solidFill>
                    <a:srgbClr val="FFFFFF"/>
                  </a:solidFill>
                  <a:latin typeface="Calibri (MS) Bold"/>
                  <a:ea typeface="Calibri (MS) Bold"/>
                  <a:cs typeface="Calibri (MS) Bold"/>
                  <a:sym typeface="Calibri (MS) Bold"/>
                </a:rPr>
                <a:t>Automatic conflict checks before allocation is confirmed</a:t>
              </a:r>
            </a:p>
          </p:txBody>
        </p:sp>
      </p:grpSp>
      <p:grpSp>
        <p:nvGrpSpPr>
          <p:cNvPr name="Group 59" id="59"/>
          <p:cNvGrpSpPr/>
          <p:nvPr/>
        </p:nvGrpSpPr>
        <p:grpSpPr>
          <a:xfrm rot="0">
            <a:off x="685800" y="9710928"/>
            <a:ext cx="10972800" cy="411480"/>
            <a:chOff x="0" y="0"/>
            <a:chExt cx="14630400" cy="548640"/>
          </a:xfrm>
        </p:grpSpPr>
        <p:sp>
          <p:nvSpPr>
            <p:cNvPr name="Freeform 60" id="6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1" id="61"/>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5C7080"/>
                  </a:solidFill>
                  <a:latin typeface="Calibri (MS)"/>
                  <a:ea typeface="Calibri (MS)"/>
                  <a:cs typeface="Calibri (MS)"/>
                  <a:sym typeface="Calibri (MS)"/>
                </a:rPr>
                <a:t>Event &amp; Room Occupancy Management System</a:t>
              </a:r>
            </a:p>
          </p:txBody>
        </p:sp>
      </p:grpSp>
      <p:grpSp>
        <p:nvGrpSpPr>
          <p:cNvPr name="Group 62" id="62"/>
          <p:cNvGrpSpPr/>
          <p:nvPr/>
        </p:nvGrpSpPr>
        <p:grpSpPr>
          <a:xfrm rot="0">
            <a:off x="16915943" y="9710928"/>
            <a:ext cx="685800" cy="411480"/>
            <a:chOff x="0" y="0"/>
            <a:chExt cx="914400" cy="548640"/>
          </a:xfrm>
        </p:grpSpPr>
        <p:sp>
          <p:nvSpPr>
            <p:cNvPr name="Freeform 63" id="6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4" id="6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5C7080"/>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00A896"/>
                  </a:solidFill>
                  <a:latin typeface="Calibri (MS) Bold"/>
                  <a:ea typeface="Calibri (MS) Bold"/>
                  <a:cs typeface="Calibri (MS) Bold"/>
                  <a:sym typeface="Calibri (MS) Bold"/>
                </a:rPr>
                <a:t>WHAT IT WILL OFFER</a:t>
              </a:r>
            </a:p>
          </p:txBody>
        </p:sp>
      </p:grpSp>
      <p:grpSp>
        <p:nvGrpSpPr>
          <p:cNvPr name="Group 5" id="5"/>
          <p:cNvGrpSpPr/>
          <p:nvPr/>
        </p:nvGrpSpPr>
        <p:grpSpPr>
          <a:xfrm rot="0">
            <a:off x="960120" y="960120"/>
            <a:ext cx="16322040" cy="960120"/>
            <a:chOff x="0" y="0"/>
            <a:chExt cx="21762720" cy="1280160"/>
          </a:xfrm>
        </p:grpSpPr>
        <p:sp>
          <p:nvSpPr>
            <p:cNvPr name="Freeform 6" id="6"/>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7" id="7"/>
            <p:cNvSpPr txBox="true"/>
            <p:nvPr/>
          </p:nvSpPr>
          <p:spPr>
            <a:xfrm>
              <a:off x="0" y="-19050"/>
              <a:ext cx="21762720" cy="1299210"/>
            </a:xfrm>
            <a:prstGeom prst="rect">
              <a:avLst/>
            </a:prstGeom>
          </p:spPr>
          <p:txBody>
            <a:bodyPr anchor="ctr" rtlCol="false" tIns="0" lIns="0" bIns="0" rIns="0"/>
            <a:lstStyle/>
            <a:p>
              <a:pPr algn="l">
                <a:lnSpc>
                  <a:spcPts val="5400"/>
                </a:lnSpc>
              </a:pPr>
              <a:r>
                <a:rPr lang="en-US" sz="4500" b="true">
                  <a:solidFill>
                    <a:srgbClr val="05375A"/>
                  </a:solidFill>
                  <a:latin typeface="Cambria Bold"/>
                  <a:ea typeface="Cambria Bold"/>
                  <a:cs typeface="Cambria Bold"/>
                  <a:sym typeface="Cambria Bold"/>
                </a:rPr>
                <a:t>Key Features</a:t>
              </a:r>
            </a:p>
          </p:txBody>
        </p:sp>
      </p:grpSp>
      <p:grpSp>
        <p:nvGrpSpPr>
          <p:cNvPr name="Group 8" id="8"/>
          <p:cNvGrpSpPr/>
          <p:nvPr/>
        </p:nvGrpSpPr>
        <p:grpSpPr>
          <a:xfrm rot="0">
            <a:off x="960120" y="2057400"/>
            <a:ext cx="16322040" cy="548640"/>
            <a:chOff x="0" y="0"/>
            <a:chExt cx="21762720" cy="731520"/>
          </a:xfrm>
        </p:grpSpPr>
        <p:sp>
          <p:nvSpPr>
            <p:cNvPr name="Freeform 9" id="9"/>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10" id="10"/>
            <p:cNvSpPr txBox="true"/>
            <p:nvPr/>
          </p:nvSpPr>
          <p:spPr>
            <a:xfrm>
              <a:off x="0" y="-47625"/>
              <a:ext cx="21762720" cy="779145"/>
            </a:xfrm>
            <a:prstGeom prst="rect">
              <a:avLst/>
            </a:prstGeom>
          </p:spPr>
          <p:txBody>
            <a:bodyPr anchor="ctr" rtlCol="false" tIns="0" lIns="0" bIns="0" rIns="0"/>
            <a:lstStyle/>
            <a:p>
              <a:pPr algn="l">
                <a:lnSpc>
                  <a:spcPts val="2340"/>
                </a:lnSpc>
              </a:pPr>
              <a:r>
                <a:rPr lang="en-US" sz="1950" i="true">
                  <a:solidFill>
                    <a:srgbClr val="5C7080"/>
                  </a:solidFill>
                  <a:latin typeface="Calibri (MS) Italics"/>
                  <a:ea typeface="Calibri (MS) Italics"/>
                  <a:cs typeface="Calibri (MS) Italics"/>
                  <a:sym typeface="Calibri (MS) Italics"/>
                </a:rPr>
                <a:t>The proposed system will provide role-based functionality for two types of users.</a:t>
              </a:r>
            </a:p>
          </p:txBody>
        </p:sp>
      </p:grpSp>
      <p:grpSp>
        <p:nvGrpSpPr>
          <p:cNvPr name="Group 11" id="11"/>
          <p:cNvGrpSpPr/>
          <p:nvPr/>
        </p:nvGrpSpPr>
        <p:grpSpPr>
          <a:xfrm rot="0">
            <a:off x="950595" y="2870835"/>
            <a:ext cx="7905750" cy="6877050"/>
            <a:chOff x="0" y="0"/>
            <a:chExt cx="10541000" cy="9169400"/>
          </a:xfrm>
        </p:grpSpPr>
        <p:sp>
          <p:nvSpPr>
            <p:cNvPr name="Freeform 12" id="12"/>
            <p:cNvSpPr/>
            <p:nvPr/>
          </p:nvSpPr>
          <p:spPr>
            <a:xfrm flipH="false" flipV="false" rot="0">
              <a:off x="0" y="0"/>
              <a:ext cx="10541000" cy="9169400"/>
            </a:xfrm>
            <a:custGeom>
              <a:avLst/>
              <a:gdLst/>
              <a:ahLst/>
              <a:cxnLst/>
              <a:rect r="r" b="b" t="t" l="l"/>
              <a:pathLst>
                <a:path h="9169400" w="10541000">
                  <a:moveTo>
                    <a:pt x="0" y="220091"/>
                  </a:moveTo>
                  <a:cubicBezTo>
                    <a:pt x="0" y="98552"/>
                    <a:pt x="98552" y="0"/>
                    <a:pt x="220091" y="0"/>
                  </a:cubicBezTo>
                  <a:lnTo>
                    <a:pt x="10320909" y="0"/>
                  </a:lnTo>
                  <a:cubicBezTo>
                    <a:pt x="10442448" y="0"/>
                    <a:pt x="10541000" y="98552"/>
                    <a:pt x="10541000" y="220091"/>
                  </a:cubicBezTo>
                  <a:lnTo>
                    <a:pt x="10541000" y="8949309"/>
                  </a:lnTo>
                  <a:cubicBezTo>
                    <a:pt x="10541000" y="9070848"/>
                    <a:pt x="10442448" y="9169400"/>
                    <a:pt x="10320909" y="9169400"/>
                  </a:cubicBezTo>
                  <a:lnTo>
                    <a:pt x="220091" y="9169400"/>
                  </a:lnTo>
                  <a:cubicBezTo>
                    <a:pt x="98552" y="9169400"/>
                    <a:pt x="0" y="9070848"/>
                    <a:pt x="0" y="8949309"/>
                  </a:cubicBezTo>
                  <a:close/>
                </a:path>
              </a:pathLst>
            </a:custGeom>
            <a:solidFill>
              <a:srgbClr val="F4F7F8"/>
            </a:solidFill>
            <a:ln w="19050" cap="sq">
              <a:solidFill>
                <a:srgbClr val="E2E8ED"/>
              </a:solidFill>
              <a:prstDash val="solid"/>
              <a:miter/>
            </a:ln>
          </p:spPr>
        </p:sp>
      </p:grpSp>
      <p:grpSp>
        <p:nvGrpSpPr>
          <p:cNvPr name="Group 13" id="13"/>
          <p:cNvGrpSpPr/>
          <p:nvPr/>
        </p:nvGrpSpPr>
        <p:grpSpPr>
          <a:xfrm rot="0">
            <a:off x="1440180" y="3319272"/>
            <a:ext cx="891540" cy="891540"/>
            <a:chOff x="0" y="0"/>
            <a:chExt cx="1188720" cy="1188720"/>
          </a:xfrm>
        </p:grpSpPr>
        <p:sp>
          <p:nvSpPr>
            <p:cNvPr name="Freeform 14" id="14"/>
            <p:cNvSpPr/>
            <p:nvPr/>
          </p:nvSpPr>
          <p:spPr>
            <a:xfrm flipH="false" flipV="false" rot="0">
              <a:off x="0" y="0"/>
              <a:ext cx="1188720" cy="1188720"/>
            </a:xfrm>
            <a:custGeom>
              <a:avLst/>
              <a:gdLst/>
              <a:ahLst/>
              <a:cxnLst/>
              <a:rect r="r" b="b" t="t" l="l"/>
              <a:pathLst>
                <a:path h="1188720" w="1188720">
                  <a:moveTo>
                    <a:pt x="0" y="256032"/>
                  </a:moveTo>
                  <a:cubicBezTo>
                    <a:pt x="0" y="114681"/>
                    <a:pt x="114681" y="0"/>
                    <a:pt x="256032" y="0"/>
                  </a:cubicBezTo>
                  <a:lnTo>
                    <a:pt x="932688" y="0"/>
                  </a:lnTo>
                  <a:cubicBezTo>
                    <a:pt x="1074039" y="0"/>
                    <a:pt x="1188720" y="114681"/>
                    <a:pt x="1188720" y="256032"/>
                  </a:cubicBezTo>
                  <a:lnTo>
                    <a:pt x="1188720" y="932688"/>
                  </a:lnTo>
                  <a:cubicBezTo>
                    <a:pt x="1188720" y="1074039"/>
                    <a:pt x="1074039" y="1188720"/>
                    <a:pt x="932688" y="1188720"/>
                  </a:cubicBezTo>
                  <a:lnTo>
                    <a:pt x="256032" y="1188720"/>
                  </a:lnTo>
                  <a:cubicBezTo>
                    <a:pt x="114681" y="1188720"/>
                    <a:pt x="0" y="1074039"/>
                    <a:pt x="0" y="932688"/>
                  </a:cubicBezTo>
                  <a:close/>
                </a:path>
              </a:pathLst>
            </a:custGeom>
            <a:solidFill>
              <a:srgbClr val="028090"/>
            </a:solidFill>
          </p:spPr>
        </p:sp>
      </p:grpSp>
      <p:grpSp>
        <p:nvGrpSpPr>
          <p:cNvPr name="Group 15" id="15"/>
          <p:cNvGrpSpPr/>
          <p:nvPr/>
        </p:nvGrpSpPr>
        <p:grpSpPr>
          <a:xfrm rot="0">
            <a:off x="1645920" y="3525012"/>
            <a:ext cx="480060" cy="480060"/>
            <a:chOff x="0" y="0"/>
            <a:chExt cx="640080" cy="640080"/>
          </a:xfrm>
        </p:grpSpPr>
        <p:sp>
          <p:nvSpPr>
            <p:cNvPr name="Freeform 16" id="16" descr="/home/claude/proj/icons/userGrad_white.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4"/>
              <a:stretch>
                <a:fillRect l="0" t="0" r="0" b="0"/>
              </a:stretch>
            </a:blipFill>
          </p:spPr>
        </p:sp>
      </p:grpSp>
      <p:grpSp>
        <p:nvGrpSpPr>
          <p:cNvPr name="Group 17" id="17"/>
          <p:cNvGrpSpPr/>
          <p:nvPr/>
        </p:nvGrpSpPr>
        <p:grpSpPr>
          <a:xfrm rot="0">
            <a:off x="2537460" y="3360420"/>
            <a:ext cx="5966460" cy="822960"/>
            <a:chOff x="0" y="0"/>
            <a:chExt cx="7955280" cy="1097280"/>
          </a:xfrm>
        </p:grpSpPr>
        <p:sp>
          <p:nvSpPr>
            <p:cNvPr name="Freeform 18" id="18"/>
            <p:cNvSpPr/>
            <p:nvPr/>
          </p:nvSpPr>
          <p:spPr>
            <a:xfrm flipH="false" flipV="false" rot="0">
              <a:off x="0" y="0"/>
              <a:ext cx="7955280" cy="1097280"/>
            </a:xfrm>
            <a:custGeom>
              <a:avLst/>
              <a:gdLst/>
              <a:ahLst/>
              <a:cxnLst/>
              <a:rect r="r" b="b" t="t" l="l"/>
              <a:pathLst>
                <a:path h="1097280" w="7955280">
                  <a:moveTo>
                    <a:pt x="0" y="0"/>
                  </a:moveTo>
                  <a:lnTo>
                    <a:pt x="7955280" y="0"/>
                  </a:lnTo>
                  <a:lnTo>
                    <a:pt x="7955280" y="1097280"/>
                  </a:lnTo>
                  <a:lnTo>
                    <a:pt x="0" y="1097280"/>
                  </a:lnTo>
                  <a:close/>
                </a:path>
              </a:pathLst>
            </a:custGeom>
            <a:blipFill>
              <a:blip r:embed="rId3">
                <a:alphaModFix amt="0"/>
              </a:blip>
              <a:stretch>
                <a:fillRect l="0" t="-91266" r="0" b="-91266"/>
              </a:stretch>
            </a:blipFill>
          </p:spPr>
        </p:sp>
        <p:sp>
          <p:nvSpPr>
            <p:cNvPr name="TextBox 19" id="19"/>
            <p:cNvSpPr txBox="true"/>
            <p:nvPr/>
          </p:nvSpPr>
          <p:spPr>
            <a:xfrm>
              <a:off x="0" y="-9525"/>
              <a:ext cx="7955280" cy="1106805"/>
            </a:xfrm>
            <a:prstGeom prst="rect">
              <a:avLst/>
            </a:prstGeom>
          </p:spPr>
          <p:txBody>
            <a:bodyPr anchor="ctr" rtlCol="false" tIns="0" lIns="0" bIns="0" rIns="0"/>
            <a:lstStyle/>
            <a:p>
              <a:pPr algn="l">
                <a:lnSpc>
                  <a:spcPts val="3060"/>
                </a:lnSpc>
              </a:pPr>
              <a:r>
                <a:rPr lang="en-US" sz="2550" b="true">
                  <a:solidFill>
                    <a:srgbClr val="05375A"/>
                  </a:solidFill>
                  <a:latin typeface="Cambria Bold"/>
                  <a:ea typeface="Cambria Bold"/>
                  <a:cs typeface="Cambria Bold"/>
                  <a:sym typeface="Cambria Bold"/>
                </a:rPr>
                <a:t>Student / User Features</a:t>
              </a:r>
            </a:p>
          </p:txBody>
        </p:sp>
      </p:grpSp>
      <p:grpSp>
        <p:nvGrpSpPr>
          <p:cNvPr name="Group 20" id="20"/>
          <p:cNvGrpSpPr/>
          <p:nvPr/>
        </p:nvGrpSpPr>
        <p:grpSpPr>
          <a:xfrm rot="0">
            <a:off x="1440180" y="4594860"/>
            <a:ext cx="411480" cy="754380"/>
            <a:chOff x="0" y="0"/>
            <a:chExt cx="548640" cy="1005840"/>
          </a:xfrm>
        </p:grpSpPr>
        <p:sp>
          <p:nvSpPr>
            <p:cNvPr name="Freeform 21" id="21"/>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22" id="22"/>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23" id="23"/>
          <p:cNvGrpSpPr/>
          <p:nvPr/>
        </p:nvGrpSpPr>
        <p:grpSpPr>
          <a:xfrm rot="0">
            <a:off x="1851660" y="4594860"/>
            <a:ext cx="6515100" cy="754380"/>
            <a:chOff x="0" y="0"/>
            <a:chExt cx="8686800" cy="1005840"/>
          </a:xfrm>
        </p:grpSpPr>
        <p:sp>
          <p:nvSpPr>
            <p:cNvPr name="Freeform 24" id="24"/>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25" id="25"/>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1B2B34"/>
                  </a:solidFill>
                  <a:latin typeface="Calibri (MS)"/>
                  <a:ea typeface="Calibri (MS)"/>
                  <a:cs typeface="Calibri (MS)"/>
                  <a:sym typeface="Calibri (MS)"/>
                </a:rPr>
                <a:t>View available and occupied rooms in real time</a:t>
              </a:r>
            </a:p>
          </p:txBody>
        </p:sp>
      </p:grpSp>
      <p:grpSp>
        <p:nvGrpSpPr>
          <p:cNvPr name="Group 26" id="26"/>
          <p:cNvGrpSpPr/>
          <p:nvPr/>
        </p:nvGrpSpPr>
        <p:grpSpPr>
          <a:xfrm rot="0">
            <a:off x="1440180" y="5445252"/>
            <a:ext cx="411480" cy="754380"/>
            <a:chOff x="0" y="0"/>
            <a:chExt cx="548640" cy="1005840"/>
          </a:xfrm>
        </p:grpSpPr>
        <p:sp>
          <p:nvSpPr>
            <p:cNvPr name="Freeform 27" id="27"/>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28" id="28"/>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29" id="29"/>
          <p:cNvGrpSpPr/>
          <p:nvPr/>
        </p:nvGrpSpPr>
        <p:grpSpPr>
          <a:xfrm rot="0">
            <a:off x="1851660" y="5445252"/>
            <a:ext cx="6515100" cy="754380"/>
            <a:chOff x="0" y="0"/>
            <a:chExt cx="8686800" cy="1005840"/>
          </a:xfrm>
        </p:grpSpPr>
        <p:sp>
          <p:nvSpPr>
            <p:cNvPr name="Freeform 30" id="30"/>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31" id="31"/>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1B2B34"/>
                  </a:solidFill>
                  <a:latin typeface="Calibri (MS)"/>
                  <a:ea typeface="Calibri (MS)"/>
                  <a:cs typeface="Calibri (MS)"/>
                  <a:sym typeface="Calibri (MS)"/>
                </a:rPr>
                <a:t>Check room capacity and schedules</a:t>
              </a:r>
            </a:p>
          </p:txBody>
        </p:sp>
      </p:grpSp>
      <p:grpSp>
        <p:nvGrpSpPr>
          <p:cNvPr name="Group 32" id="32"/>
          <p:cNvGrpSpPr/>
          <p:nvPr/>
        </p:nvGrpSpPr>
        <p:grpSpPr>
          <a:xfrm rot="0">
            <a:off x="1440180" y="6295644"/>
            <a:ext cx="411480" cy="754380"/>
            <a:chOff x="0" y="0"/>
            <a:chExt cx="548640" cy="1005840"/>
          </a:xfrm>
        </p:grpSpPr>
        <p:sp>
          <p:nvSpPr>
            <p:cNvPr name="Freeform 33" id="33"/>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34" id="34"/>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35" id="35"/>
          <p:cNvGrpSpPr/>
          <p:nvPr/>
        </p:nvGrpSpPr>
        <p:grpSpPr>
          <a:xfrm rot="0">
            <a:off x="1851660" y="6295644"/>
            <a:ext cx="6515100" cy="754380"/>
            <a:chOff x="0" y="0"/>
            <a:chExt cx="8686800" cy="1005840"/>
          </a:xfrm>
        </p:grpSpPr>
        <p:sp>
          <p:nvSpPr>
            <p:cNvPr name="Freeform 36" id="36"/>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37" id="37"/>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1B2B34"/>
                  </a:solidFill>
                  <a:latin typeface="Calibri (MS)"/>
                  <a:ea typeface="Calibri (MS)"/>
                  <a:cs typeface="Calibri (MS)"/>
                  <a:sym typeface="Calibri (MS)"/>
                </a:rPr>
                <a:t>Browse and register for college events</a:t>
              </a:r>
            </a:p>
          </p:txBody>
        </p:sp>
      </p:grpSp>
      <p:grpSp>
        <p:nvGrpSpPr>
          <p:cNvPr name="Group 38" id="38"/>
          <p:cNvGrpSpPr/>
          <p:nvPr/>
        </p:nvGrpSpPr>
        <p:grpSpPr>
          <a:xfrm rot="0">
            <a:off x="1440180" y="7146036"/>
            <a:ext cx="411480" cy="754380"/>
            <a:chOff x="0" y="0"/>
            <a:chExt cx="548640" cy="1005840"/>
          </a:xfrm>
        </p:grpSpPr>
        <p:sp>
          <p:nvSpPr>
            <p:cNvPr name="Freeform 39" id="39"/>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40" id="40"/>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41" id="41"/>
          <p:cNvGrpSpPr/>
          <p:nvPr/>
        </p:nvGrpSpPr>
        <p:grpSpPr>
          <a:xfrm rot="0">
            <a:off x="1851660" y="7146036"/>
            <a:ext cx="6515100" cy="754380"/>
            <a:chOff x="0" y="0"/>
            <a:chExt cx="8686800" cy="1005840"/>
          </a:xfrm>
        </p:grpSpPr>
        <p:sp>
          <p:nvSpPr>
            <p:cNvPr name="Freeform 42" id="42"/>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43" id="43"/>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1B2B34"/>
                  </a:solidFill>
                  <a:latin typeface="Calibri (MS)"/>
                  <a:ea typeface="Calibri (MS)"/>
                  <a:cs typeface="Calibri (MS)"/>
                  <a:sym typeface="Calibri (MS)"/>
                </a:rPr>
                <a:t>Track expected vs. registered participant counts</a:t>
              </a:r>
            </a:p>
          </p:txBody>
        </p:sp>
      </p:grpSp>
      <p:grpSp>
        <p:nvGrpSpPr>
          <p:cNvPr name="Group 44" id="44"/>
          <p:cNvGrpSpPr/>
          <p:nvPr/>
        </p:nvGrpSpPr>
        <p:grpSpPr>
          <a:xfrm rot="0">
            <a:off x="9395460" y="2880360"/>
            <a:ext cx="7886700" cy="6858000"/>
            <a:chOff x="0" y="0"/>
            <a:chExt cx="10515600" cy="9144000"/>
          </a:xfrm>
        </p:grpSpPr>
        <p:sp>
          <p:nvSpPr>
            <p:cNvPr name="Freeform 45" id="45"/>
            <p:cNvSpPr/>
            <p:nvPr/>
          </p:nvSpPr>
          <p:spPr>
            <a:xfrm flipH="false" flipV="false" rot="0">
              <a:off x="0" y="0"/>
              <a:ext cx="10515600" cy="9144000"/>
            </a:xfrm>
            <a:custGeom>
              <a:avLst/>
              <a:gdLst/>
              <a:ahLst/>
              <a:cxnLst/>
              <a:rect r="r" b="b" t="t" l="l"/>
              <a:pathLst>
                <a:path h="9144000" w="10515600">
                  <a:moveTo>
                    <a:pt x="0" y="219456"/>
                  </a:moveTo>
                  <a:cubicBezTo>
                    <a:pt x="0" y="98298"/>
                    <a:pt x="98298" y="0"/>
                    <a:pt x="219456" y="0"/>
                  </a:cubicBezTo>
                  <a:lnTo>
                    <a:pt x="10296144" y="0"/>
                  </a:lnTo>
                  <a:cubicBezTo>
                    <a:pt x="10417302" y="0"/>
                    <a:pt x="10515600" y="98298"/>
                    <a:pt x="10515600" y="219456"/>
                  </a:cubicBezTo>
                  <a:lnTo>
                    <a:pt x="10515600" y="8924544"/>
                  </a:lnTo>
                  <a:cubicBezTo>
                    <a:pt x="10515600" y="9045701"/>
                    <a:pt x="10417302" y="9144000"/>
                    <a:pt x="10296144" y="9144000"/>
                  </a:cubicBezTo>
                  <a:lnTo>
                    <a:pt x="219456" y="9144000"/>
                  </a:lnTo>
                  <a:cubicBezTo>
                    <a:pt x="98298" y="9144000"/>
                    <a:pt x="0" y="9045702"/>
                    <a:pt x="0" y="8924544"/>
                  </a:cubicBezTo>
                  <a:close/>
                </a:path>
              </a:pathLst>
            </a:custGeom>
            <a:solidFill>
              <a:srgbClr val="05375A"/>
            </a:solidFill>
          </p:spPr>
        </p:sp>
      </p:grpSp>
      <p:grpSp>
        <p:nvGrpSpPr>
          <p:cNvPr name="Group 46" id="46"/>
          <p:cNvGrpSpPr/>
          <p:nvPr/>
        </p:nvGrpSpPr>
        <p:grpSpPr>
          <a:xfrm rot="0">
            <a:off x="9875520" y="3319272"/>
            <a:ext cx="891540" cy="891540"/>
            <a:chOff x="0" y="0"/>
            <a:chExt cx="1188720" cy="1188720"/>
          </a:xfrm>
        </p:grpSpPr>
        <p:sp>
          <p:nvSpPr>
            <p:cNvPr name="Freeform 47" id="47"/>
            <p:cNvSpPr/>
            <p:nvPr/>
          </p:nvSpPr>
          <p:spPr>
            <a:xfrm flipH="false" flipV="false" rot="0">
              <a:off x="0" y="0"/>
              <a:ext cx="1188720" cy="1188720"/>
            </a:xfrm>
            <a:custGeom>
              <a:avLst/>
              <a:gdLst/>
              <a:ahLst/>
              <a:cxnLst/>
              <a:rect r="r" b="b" t="t" l="l"/>
              <a:pathLst>
                <a:path h="1188720" w="1188720">
                  <a:moveTo>
                    <a:pt x="0" y="256032"/>
                  </a:moveTo>
                  <a:cubicBezTo>
                    <a:pt x="0" y="114681"/>
                    <a:pt x="114681" y="0"/>
                    <a:pt x="256032" y="0"/>
                  </a:cubicBezTo>
                  <a:lnTo>
                    <a:pt x="932688" y="0"/>
                  </a:lnTo>
                  <a:cubicBezTo>
                    <a:pt x="1074039" y="0"/>
                    <a:pt x="1188720" y="114681"/>
                    <a:pt x="1188720" y="256032"/>
                  </a:cubicBezTo>
                  <a:lnTo>
                    <a:pt x="1188720" y="932688"/>
                  </a:lnTo>
                  <a:cubicBezTo>
                    <a:pt x="1188720" y="1074039"/>
                    <a:pt x="1074039" y="1188720"/>
                    <a:pt x="932688" y="1188720"/>
                  </a:cubicBezTo>
                  <a:lnTo>
                    <a:pt x="256032" y="1188720"/>
                  </a:lnTo>
                  <a:cubicBezTo>
                    <a:pt x="114681" y="1188720"/>
                    <a:pt x="0" y="1074039"/>
                    <a:pt x="0" y="932688"/>
                  </a:cubicBezTo>
                  <a:close/>
                </a:path>
              </a:pathLst>
            </a:custGeom>
            <a:solidFill>
              <a:srgbClr val="02C39A"/>
            </a:solidFill>
          </p:spPr>
        </p:sp>
      </p:grpSp>
      <p:grpSp>
        <p:nvGrpSpPr>
          <p:cNvPr name="Group 48" id="48"/>
          <p:cNvGrpSpPr/>
          <p:nvPr/>
        </p:nvGrpSpPr>
        <p:grpSpPr>
          <a:xfrm rot="0">
            <a:off x="10081260" y="3525012"/>
            <a:ext cx="480060" cy="480060"/>
            <a:chOff x="0" y="0"/>
            <a:chExt cx="640080" cy="640080"/>
          </a:xfrm>
        </p:grpSpPr>
        <p:sp>
          <p:nvSpPr>
            <p:cNvPr name="Freeform 49" id="49" descr="/home/claude/proj/icons/shield_navy.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5"/>
              <a:stretch>
                <a:fillRect l="0" t="0" r="0" b="0"/>
              </a:stretch>
            </a:blipFill>
          </p:spPr>
        </p:sp>
      </p:grpSp>
      <p:grpSp>
        <p:nvGrpSpPr>
          <p:cNvPr name="Group 50" id="50"/>
          <p:cNvGrpSpPr/>
          <p:nvPr/>
        </p:nvGrpSpPr>
        <p:grpSpPr>
          <a:xfrm rot="0">
            <a:off x="10972800" y="3360420"/>
            <a:ext cx="5966460" cy="822960"/>
            <a:chOff x="0" y="0"/>
            <a:chExt cx="7955280" cy="1097280"/>
          </a:xfrm>
        </p:grpSpPr>
        <p:sp>
          <p:nvSpPr>
            <p:cNvPr name="Freeform 51" id="51"/>
            <p:cNvSpPr/>
            <p:nvPr/>
          </p:nvSpPr>
          <p:spPr>
            <a:xfrm flipH="false" flipV="false" rot="0">
              <a:off x="0" y="0"/>
              <a:ext cx="7955280" cy="1097280"/>
            </a:xfrm>
            <a:custGeom>
              <a:avLst/>
              <a:gdLst/>
              <a:ahLst/>
              <a:cxnLst/>
              <a:rect r="r" b="b" t="t" l="l"/>
              <a:pathLst>
                <a:path h="1097280" w="7955280">
                  <a:moveTo>
                    <a:pt x="0" y="0"/>
                  </a:moveTo>
                  <a:lnTo>
                    <a:pt x="7955280" y="0"/>
                  </a:lnTo>
                  <a:lnTo>
                    <a:pt x="7955280" y="1097280"/>
                  </a:lnTo>
                  <a:lnTo>
                    <a:pt x="0" y="1097280"/>
                  </a:lnTo>
                  <a:close/>
                </a:path>
              </a:pathLst>
            </a:custGeom>
            <a:blipFill>
              <a:blip r:embed="rId3">
                <a:alphaModFix amt="0"/>
              </a:blip>
              <a:stretch>
                <a:fillRect l="0" t="-91266" r="0" b="-91266"/>
              </a:stretch>
            </a:blipFill>
          </p:spPr>
        </p:sp>
        <p:sp>
          <p:nvSpPr>
            <p:cNvPr name="TextBox 52" id="52"/>
            <p:cNvSpPr txBox="true"/>
            <p:nvPr/>
          </p:nvSpPr>
          <p:spPr>
            <a:xfrm>
              <a:off x="0" y="-9525"/>
              <a:ext cx="7955280" cy="1106805"/>
            </a:xfrm>
            <a:prstGeom prst="rect">
              <a:avLst/>
            </a:prstGeom>
          </p:spPr>
          <p:txBody>
            <a:bodyPr anchor="ctr" rtlCol="false" tIns="0" lIns="0" bIns="0" rIns="0"/>
            <a:lstStyle/>
            <a:p>
              <a:pPr algn="l">
                <a:lnSpc>
                  <a:spcPts val="3060"/>
                </a:lnSpc>
              </a:pPr>
              <a:r>
                <a:rPr lang="en-US" sz="2550" b="true">
                  <a:solidFill>
                    <a:srgbClr val="FFFFFF"/>
                  </a:solidFill>
                  <a:latin typeface="Cambria Bold"/>
                  <a:ea typeface="Cambria Bold"/>
                  <a:cs typeface="Cambria Bold"/>
                  <a:sym typeface="Cambria Bold"/>
                </a:rPr>
                <a:t>Administrator Features</a:t>
              </a:r>
            </a:p>
          </p:txBody>
        </p:sp>
      </p:grpSp>
      <p:grpSp>
        <p:nvGrpSpPr>
          <p:cNvPr name="Group 53" id="53"/>
          <p:cNvGrpSpPr/>
          <p:nvPr/>
        </p:nvGrpSpPr>
        <p:grpSpPr>
          <a:xfrm rot="0">
            <a:off x="9875520" y="4594860"/>
            <a:ext cx="411480" cy="754380"/>
            <a:chOff x="0" y="0"/>
            <a:chExt cx="548640" cy="1005840"/>
          </a:xfrm>
        </p:grpSpPr>
        <p:sp>
          <p:nvSpPr>
            <p:cNvPr name="Freeform 54" id="54"/>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55" id="55"/>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56" id="56"/>
          <p:cNvGrpSpPr/>
          <p:nvPr/>
        </p:nvGrpSpPr>
        <p:grpSpPr>
          <a:xfrm rot="0">
            <a:off x="10287000" y="4594860"/>
            <a:ext cx="6515100" cy="754380"/>
            <a:chOff x="0" y="0"/>
            <a:chExt cx="8686800" cy="1005840"/>
          </a:xfrm>
        </p:grpSpPr>
        <p:sp>
          <p:nvSpPr>
            <p:cNvPr name="Freeform 57" id="57"/>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58" id="58"/>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E4EEF0"/>
                  </a:solidFill>
                  <a:latin typeface="Calibri (MS)"/>
                  <a:ea typeface="Calibri (MS)"/>
                  <a:cs typeface="Calibri (MS)"/>
                  <a:sym typeface="Calibri (MS)"/>
                </a:rPr>
                <a:t>Manage room bookings and allocations</a:t>
              </a:r>
            </a:p>
          </p:txBody>
        </p:sp>
      </p:grpSp>
      <p:grpSp>
        <p:nvGrpSpPr>
          <p:cNvPr name="Group 59" id="59"/>
          <p:cNvGrpSpPr/>
          <p:nvPr/>
        </p:nvGrpSpPr>
        <p:grpSpPr>
          <a:xfrm rot="0">
            <a:off x="9875520" y="5445252"/>
            <a:ext cx="411480" cy="754380"/>
            <a:chOff x="0" y="0"/>
            <a:chExt cx="548640" cy="1005840"/>
          </a:xfrm>
        </p:grpSpPr>
        <p:sp>
          <p:nvSpPr>
            <p:cNvPr name="Freeform 60" id="60"/>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61" id="61"/>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62" id="62"/>
          <p:cNvGrpSpPr/>
          <p:nvPr/>
        </p:nvGrpSpPr>
        <p:grpSpPr>
          <a:xfrm rot="0">
            <a:off x="10287000" y="5445252"/>
            <a:ext cx="6515100" cy="754380"/>
            <a:chOff x="0" y="0"/>
            <a:chExt cx="8686800" cy="1005840"/>
          </a:xfrm>
        </p:grpSpPr>
        <p:sp>
          <p:nvSpPr>
            <p:cNvPr name="Freeform 63" id="63"/>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64" id="64"/>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E4EEF0"/>
                  </a:solidFill>
                  <a:latin typeface="Calibri (MS)"/>
                  <a:ea typeface="Calibri (MS)"/>
                  <a:cs typeface="Calibri (MS)"/>
                  <a:sym typeface="Calibri (MS)"/>
                </a:rPr>
                <a:t>Create and manage college events</a:t>
              </a:r>
            </a:p>
          </p:txBody>
        </p:sp>
      </p:grpSp>
      <p:grpSp>
        <p:nvGrpSpPr>
          <p:cNvPr name="Group 65" id="65"/>
          <p:cNvGrpSpPr/>
          <p:nvPr/>
        </p:nvGrpSpPr>
        <p:grpSpPr>
          <a:xfrm rot="0">
            <a:off x="9875520" y="6295644"/>
            <a:ext cx="411480" cy="754380"/>
            <a:chOff x="0" y="0"/>
            <a:chExt cx="548640" cy="1005840"/>
          </a:xfrm>
        </p:grpSpPr>
        <p:sp>
          <p:nvSpPr>
            <p:cNvPr name="Freeform 66" id="66"/>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67" id="67"/>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68" id="68"/>
          <p:cNvGrpSpPr/>
          <p:nvPr/>
        </p:nvGrpSpPr>
        <p:grpSpPr>
          <a:xfrm rot="0">
            <a:off x="10287000" y="6295644"/>
            <a:ext cx="6515100" cy="754380"/>
            <a:chOff x="0" y="0"/>
            <a:chExt cx="8686800" cy="1005840"/>
          </a:xfrm>
        </p:grpSpPr>
        <p:sp>
          <p:nvSpPr>
            <p:cNvPr name="Freeform 69" id="69"/>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70" id="70"/>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E4EEF0"/>
                  </a:solidFill>
                  <a:latin typeface="Calibri (MS)"/>
                  <a:ea typeface="Calibri (MS)"/>
                  <a:cs typeface="Calibri (MS)"/>
                  <a:sym typeface="Calibri (MS)"/>
                </a:rPr>
                <a:t>Update and monitor actual occupancy</a:t>
              </a:r>
            </a:p>
          </p:txBody>
        </p:sp>
      </p:grpSp>
      <p:grpSp>
        <p:nvGrpSpPr>
          <p:cNvPr name="Group 71" id="71"/>
          <p:cNvGrpSpPr/>
          <p:nvPr/>
        </p:nvGrpSpPr>
        <p:grpSpPr>
          <a:xfrm rot="0">
            <a:off x="9875520" y="7146036"/>
            <a:ext cx="411480" cy="754380"/>
            <a:chOff x="0" y="0"/>
            <a:chExt cx="548640" cy="1005840"/>
          </a:xfrm>
        </p:grpSpPr>
        <p:sp>
          <p:nvSpPr>
            <p:cNvPr name="Freeform 72" id="72"/>
            <p:cNvSpPr/>
            <p:nvPr/>
          </p:nvSpPr>
          <p:spPr>
            <a:xfrm flipH="false" flipV="false" rot="0">
              <a:off x="0" y="0"/>
              <a:ext cx="548640" cy="1005840"/>
            </a:xfrm>
            <a:custGeom>
              <a:avLst/>
              <a:gdLst/>
              <a:ahLst/>
              <a:cxnLst/>
              <a:rect r="r" b="b" t="t" l="l"/>
              <a:pathLst>
                <a:path h="1005840" w="548640">
                  <a:moveTo>
                    <a:pt x="0" y="0"/>
                  </a:moveTo>
                  <a:lnTo>
                    <a:pt x="548640" y="0"/>
                  </a:lnTo>
                  <a:lnTo>
                    <a:pt x="548640" y="1005840"/>
                  </a:lnTo>
                  <a:lnTo>
                    <a:pt x="0" y="1005840"/>
                  </a:lnTo>
                  <a:close/>
                </a:path>
              </a:pathLst>
            </a:custGeom>
            <a:blipFill>
              <a:blip r:embed="rId3">
                <a:alphaModFix amt="0"/>
              </a:blip>
              <a:stretch>
                <a:fillRect l="-185223" t="0" r="-185223" b="0"/>
              </a:stretch>
            </a:blipFill>
          </p:spPr>
        </p:sp>
        <p:sp>
          <p:nvSpPr>
            <p:cNvPr name="TextBox 73" id="73"/>
            <p:cNvSpPr txBox="true"/>
            <p:nvPr/>
          </p:nvSpPr>
          <p:spPr>
            <a:xfrm>
              <a:off x="0" y="-47625"/>
              <a:ext cx="548640" cy="1053465"/>
            </a:xfrm>
            <a:prstGeom prst="rect">
              <a:avLst/>
            </a:prstGeom>
          </p:spPr>
          <p:txBody>
            <a:bodyPr anchor="ctr" rtlCol="false" tIns="0" lIns="0" bIns="0" rIns="0"/>
            <a:lstStyle/>
            <a:p>
              <a:pPr algn="l">
                <a:lnSpc>
                  <a:spcPts val="2520"/>
                </a:lnSpc>
              </a:pPr>
              <a:r>
                <a:rPr lang="en-US" sz="2100" b="true">
                  <a:solidFill>
                    <a:srgbClr val="02C39A"/>
                  </a:solidFill>
                  <a:latin typeface="Calibri (MS) Bold"/>
                  <a:ea typeface="Calibri (MS) Bold"/>
                  <a:cs typeface="Calibri (MS) Bold"/>
                  <a:sym typeface="Calibri (MS) Bold"/>
                </a:rPr>
                <a:t>•</a:t>
              </a:r>
            </a:p>
          </p:txBody>
        </p:sp>
      </p:grpSp>
      <p:grpSp>
        <p:nvGrpSpPr>
          <p:cNvPr name="Group 74" id="74"/>
          <p:cNvGrpSpPr/>
          <p:nvPr/>
        </p:nvGrpSpPr>
        <p:grpSpPr>
          <a:xfrm rot="0">
            <a:off x="10287000" y="7146036"/>
            <a:ext cx="6515100" cy="754380"/>
            <a:chOff x="0" y="0"/>
            <a:chExt cx="8686800" cy="1005840"/>
          </a:xfrm>
        </p:grpSpPr>
        <p:sp>
          <p:nvSpPr>
            <p:cNvPr name="Freeform 75" id="75"/>
            <p:cNvSpPr/>
            <p:nvPr/>
          </p:nvSpPr>
          <p:spPr>
            <a:xfrm flipH="false" flipV="false" rot="0">
              <a:off x="0" y="0"/>
              <a:ext cx="8686800" cy="1005840"/>
            </a:xfrm>
            <a:custGeom>
              <a:avLst/>
              <a:gdLst/>
              <a:ahLst/>
              <a:cxnLst/>
              <a:rect r="r" b="b" t="t" l="l"/>
              <a:pathLst>
                <a:path h="1005840" w="8686800">
                  <a:moveTo>
                    <a:pt x="0" y="0"/>
                  </a:moveTo>
                  <a:lnTo>
                    <a:pt x="8686800" y="0"/>
                  </a:lnTo>
                  <a:lnTo>
                    <a:pt x="8686800" y="1005840"/>
                  </a:lnTo>
                  <a:lnTo>
                    <a:pt x="0" y="1005840"/>
                  </a:lnTo>
                  <a:close/>
                </a:path>
              </a:pathLst>
            </a:custGeom>
            <a:blipFill>
              <a:blip r:embed="rId3">
                <a:alphaModFix amt="0"/>
              </a:blip>
              <a:stretch>
                <a:fillRect l="0" t="-118279" r="0" b="-118279"/>
              </a:stretch>
            </a:blipFill>
          </p:spPr>
        </p:sp>
        <p:sp>
          <p:nvSpPr>
            <p:cNvPr name="TextBox 76" id="76"/>
            <p:cNvSpPr txBox="true"/>
            <p:nvPr/>
          </p:nvSpPr>
          <p:spPr>
            <a:xfrm>
              <a:off x="0" y="-76200"/>
              <a:ext cx="8686800" cy="1082040"/>
            </a:xfrm>
            <a:prstGeom prst="rect">
              <a:avLst/>
            </a:prstGeom>
          </p:spPr>
          <p:txBody>
            <a:bodyPr anchor="ctr" rtlCol="false" tIns="0" lIns="0" bIns="0" rIns="0"/>
            <a:lstStyle/>
            <a:p>
              <a:pPr algn="l">
                <a:lnSpc>
                  <a:spcPts val="2690"/>
                </a:lnSpc>
              </a:pPr>
              <a:r>
                <a:rPr lang="en-US" sz="1950">
                  <a:solidFill>
                    <a:srgbClr val="E4EEF0"/>
                  </a:solidFill>
                  <a:latin typeface="Calibri (MS)"/>
                  <a:ea typeface="Calibri (MS)"/>
                  <a:cs typeface="Calibri (MS)"/>
                  <a:sym typeface="Calibri (MS)"/>
                </a:rPr>
                <a:t>Detect scheduling conflicts and block allocation when capacity or timing clashes occur</a:t>
              </a:r>
            </a:p>
          </p:txBody>
        </p:sp>
      </p:grpSp>
      <p:grpSp>
        <p:nvGrpSpPr>
          <p:cNvPr name="Group 77" id="77"/>
          <p:cNvGrpSpPr/>
          <p:nvPr/>
        </p:nvGrpSpPr>
        <p:grpSpPr>
          <a:xfrm rot="0">
            <a:off x="685800" y="9710928"/>
            <a:ext cx="10972800" cy="411480"/>
            <a:chOff x="0" y="0"/>
            <a:chExt cx="14630400" cy="548640"/>
          </a:xfrm>
        </p:grpSpPr>
        <p:sp>
          <p:nvSpPr>
            <p:cNvPr name="Freeform 78" id="7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79" id="79"/>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5C7080"/>
                  </a:solidFill>
                  <a:latin typeface="Calibri (MS)"/>
                  <a:ea typeface="Calibri (MS)"/>
                  <a:cs typeface="Calibri (MS)"/>
                  <a:sym typeface="Calibri (MS)"/>
                </a:rPr>
                <a:t>Event &amp; Room Occupancy Management System</a:t>
              </a:r>
            </a:p>
          </p:txBody>
        </p:sp>
      </p:grpSp>
      <p:grpSp>
        <p:nvGrpSpPr>
          <p:cNvPr name="Group 80" id="80"/>
          <p:cNvGrpSpPr/>
          <p:nvPr/>
        </p:nvGrpSpPr>
        <p:grpSpPr>
          <a:xfrm rot="0">
            <a:off x="16915943" y="9710928"/>
            <a:ext cx="685800" cy="411480"/>
            <a:chOff x="0" y="0"/>
            <a:chExt cx="914400" cy="548640"/>
          </a:xfrm>
        </p:grpSpPr>
        <p:sp>
          <p:nvSpPr>
            <p:cNvPr name="Freeform 81" id="8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82" id="8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5C7080"/>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00A896"/>
                  </a:solidFill>
                  <a:latin typeface="Calibri (MS) Bold"/>
                  <a:ea typeface="Calibri (MS) Bold"/>
                  <a:cs typeface="Calibri (MS) Bold"/>
                  <a:sym typeface="Calibri (MS) Bold"/>
                </a:rPr>
                <a:t>TECHNOLOGY STACK</a:t>
              </a:r>
            </a:p>
          </p:txBody>
        </p:sp>
      </p:grpSp>
      <p:grpSp>
        <p:nvGrpSpPr>
          <p:cNvPr name="Group 5" id="5"/>
          <p:cNvGrpSpPr/>
          <p:nvPr/>
        </p:nvGrpSpPr>
        <p:grpSpPr>
          <a:xfrm rot="0">
            <a:off x="960120" y="960120"/>
            <a:ext cx="16322040" cy="960120"/>
            <a:chOff x="0" y="0"/>
            <a:chExt cx="21762720" cy="1280160"/>
          </a:xfrm>
        </p:grpSpPr>
        <p:sp>
          <p:nvSpPr>
            <p:cNvPr name="Freeform 6" id="6"/>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7" id="7"/>
            <p:cNvSpPr txBox="true"/>
            <p:nvPr/>
          </p:nvSpPr>
          <p:spPr>
            <a:xfrm>
              <a:off x="0" y="-19050"/>
              <a:ext cx="21762720" cy="1299210"/>
            </a:xfrm>
            <a:prstGeom prst="rect">
              <a:avLst/>
            </a:prstGeom>
          </p:spPr>
          <p:txBody>
            <a:bodyPr anchor="ctr" rtlCol="false" tIns="0" lIns="0" bIns="0" rIns="0"/>
            <a:lstStyle/>
            <a:p>
              <a:pPr algn="l">
                <a:lnSpc>
                  <a:spcPts val="5400"/>
                </a:lnSpc>
              </a:pPr>
              <a:r>
                <a:rPr lang="en-US" sz="4500" b="true">
                  <a:solidFill>
                    <a:srgbClr val="05375A"/>
                  </a:solidFill>
                  <a:latin typeface="Cambria Bold"/>
                  <a:ea typeface="Cambria Bold"/>
                  <a:cs typeface="Cambria Bold"/>
                  <a:sym typeface="Cambria Bold"/>
                </a:rPr>
                <a:t>System Architecture</a:t>
              </a:r>
            </a:p>
          </p:txBody>
        </p:sp>
      </p:grpSp>
      <p:grpSp>
        <p:nvGrpSpPr>
          <p:cNvPr name="Group 8" id="8"/>
          <p:cNvGrpSpPr/>
          <p:nvPr/>
        </p:nvGrpSpPr>
        <p:grpSpPr>
          <a:xfrm rot="0">
            <a:off x="960120" y="2057400"/>
            <a:ext cx="16322040" cy="548640"/>
            <a:chOff x="0" y="0"/>
            <a:chExt cx="21762720" cy="731520"/>
          </a:xfrm>
        </p:grpSpPr>
        <p:sp>
          <p:nvSpPr>
            <p:cNvPr name="Freeform 9" id="9"/>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10" id="10"/>
            <p:cNvSpPr txBox="true"/>
            <p:nvPr/>
          </p:nvSpPr>
          <p:spPr>
            <a:xfrm>
              <a:off x="0" y="-47625"/>
              <a:ext cx="21762720" cy="779145"/>
            </a:xfrm>
            <a:prstGeom prst="rect">
              <a:avLst/>
            </a:prstGeom>
          </p:spPr>
          <p:txBody>
            <a:bodyPr anchor="ctr" rtlCol="false" tIns="0" lIns="0" bIns="0" rIns="0"/>
            <a:lstStyle/>
            <a:p>
              <a:pPr algn="l">
                <a:lnSpc>
                  <a:spcPts val="2340"/>
                </a:lnSpc>
              </a:pPr>
              <a:r>
                <a:rPr lang="en-US" sz="1950" i="true">
                  <a:solidFill>
                    <a:srgbClr val="5C7080"/>
                  </a:solidFill>
                  <a:latin typeface="Calibri (MS) Italics"/>
                  <a:ea typeface="Calibri (MS) Italics"/>
                  <a:cs typeface="Calibri (MS) Italics"/>
                  <a:sym typeface="Calibri (MS) Italics"/>
                </a:rPr>
                <a:t>The proposed system will follow a standard three-layer web architecture.</a:t>
              </a:r>
            </a:p>
          </p:txBody>
        </p:sp>
      </p:grpSp>
      <p:grpSp>
        <p:nvGrpSpPr>
          <p:cNvPr name="Group 11" id="11"/>
          <p:cNvGrpSpPr/>
          <p:nvPr/>
        </p:nvGrpSpPr>
        <p:grpSpPr>
          <a:xfrm rot="0">
            <a:off x="1379944" y="3483292"/>
            <a:ext cx="4692015" cy="4829175"/>
            <a:chOff x="0" y="0"/>
            <a:chExt cx="6256020" cy="6438900"/>
          </a:xfrm>
        </p:grpSpPr>
        <p:sp>
          <p:nvSpPr>
            <p:cNvPr name="Freeform 12" id="12"/>
            <p:cNvSpPr/>
            <p:nvPr/>
          </p:nvSpPr>
          <p:spPr>
            <a:xfrm flipH="false" flipV="false" rot="0">
              <a:off x="0" y="0"/>
              <a:ext cx="6256020" cy="6438900"/>
            </a:xfrm>
            <a:custGeom>
              <a:avLst/>
              <a:gdLst/>
              <a:ahLst/>
              <a:cxnLst/>
              <a:rect r="r" b="b" t="t" l="l"/>
              <a:pathLst>
                <a:path h="6438900" w="6256020">
                  <a:moveTo>
                    <a:pt x="0" y="220726"/>
                  </a:moveTo>
                  <a:cubicBezTo>
                    <a:pt x="0" y="98806"/>
                    <a:pt x="98806" y="0"/>
                    <a:pt x="220726" y="0"/>
                  </a:cubicBezTo>
                  <a:lnTo>
                    <a:pt x="6035294" y="0"/>
                  </a:lnTo>
                  <a:cubicBezTo>
                    <a:pt x="6157214" y="0"/>
                    <a:pt x="6256020" y="98806"/>
                    <a:pt x="6256020" y="220726"/>
                  </a:cubicBezTo>
                  <a:lnTo>
                    <a:pt x="6256020" y="6218174"/>
                  </a:lnTo>
                  <a:cubicBezTo>
                    <a:pt x="6256020" y="6340094"/>
                    <a:pt x="6157214" y="6438900"/>
                    <a:pt x="6035294" y="6438900"/>
                  </a:cubicBezTo>
                  <a:lnTo>
                    <a:pt x="220726" y="6438900"/>
                  </a:lnTo>
                  <a:cubicBezTo>
                    <a:pt x="98806" y="6438900"/>
                    <a:pt x="0" y="6340094"/>
                    <a:pt x="0" y="6218174"/>
                  </a:cubicBezTo>
                  <a:close/>
                </a:path>
              </a:pathLst>
            </a:custGeom>
            <a:solidFill>
              <a:srgbClr val="F4F7F8"/>
            </a:solidFill>
            <a:ln w="28575" cap="sq">
              <a:solidFill>
                <a:srgbClr val="028090"/>
              </a:solidFill>
              <a:prstDash val="solid"/>
              <a:miter/>
            </a:ln>
          </p:spPr>
        </p:sp>
      </p:grpSp>
      <p:grpSp>
        <p:nvGrpSpPr>
          <p:cNvPr name="Group 13" id="13"/>
          <p:cNvGrpSpPr/>
          <p:nvPr/>
        </p:nvGrpSpPr>
        <p:grpSpPr>
          <a:xfrm rot="0">
            <a:off x="3108731" y="3977640"/>
            <a:ext cx="1234440" cy="1234440"/>
            <a:chOff x="0" y="0"/>
            <a:chExt cx="1645920" cy="1645920"/>
          </a:xfrm>
        </p:grpSpPr>
        <p:sp>
          <p:nvSpPr>
            <p:cNvPr name="Freeform 14" id="14"/>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28090"/>
            </a:solidFill>
          </p:spPr>
        </p:sp>
      </p:grpSp>
      <p:grpSp>
        <p:nvGrpSpPr>
          <p:cNvPr name="Group 15" id="15"/>
          <p:cNvGrpSpPr/>
          <p:nvPr/>
        </p:nvGrpSpPr>
        <p:grpSpPr>
          <a:xfrm rot="0">
            <a:off x="3396767" y="4265676"/>
            <a:ext cx="658368" cy="658368"/>
            <a:chOff x="0" y="0"/>
            <a:chExt cx="877824" cy="877824"/>
          </a:xfrm>
        </p:grpSpPr>
        <p:sp>
          <p:nvSpPr>
            <p:cNvPr name="Freeform 16" id="16" descr="/home/claude/proj/icons/react_white.png"/>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lnTo>
                    <a:pt x="0" y="0"/>
                  </a:lnTo>
                  <a:close/>
                </a:path>
              </a:pathLst>
            </a:custGeom>
            <a:blipFill>
              <a:blip r:embed="rId4"/>
              <a:stretch>
                <a:fillRect l="0" t="0" r="0" b="0"/>
              </a:stretch>
            </a:blipFill>
          </p:spPr>
        </p:sp>
      </p:grpSp>
      <p:grpSp>
        <p:nvGrpSpPr>
          <p:cNvPr name="Group 17" id="17"/>
          <p:cNvGrpSpPr/>
          <p:nvPr/>
        </p:nvGrpSpPr>
        <p:grpSpPr>
          <a:xfrm rot="0">
            <a:off x="1668551" y="5417820"/>
            <a:ext cx="4114800" cy="548640"/>
            <a:chOff x="0" y="0"/>
            <a:chExt cx="5486400" cy="731520"/>
          </a:xfrm>
        </p:grpSpPr>
        <p:sp>
          <p:nvSpPr>
            <p:cNvPr name="Freeform 18" id="18"/>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3">
                <a:alphaModFix amt="0"/>
              </a:blip>
              <a:stretch>
                <a:fillRect l="0" t="-96137" r="0" b="-96137"/>
              </a:stretch>
            </a:blipFill>
          </p:spPr>
        </p:sp>
        <p:sp>
          <p:nvSpPr>
            <p:cNvPr name="TextBox 19" id="19"/>
            <p:cNvSpPr txBox="true"/>
            <p:nvPr/>
          </p:nvSpPr>
          <p:spPr>
            <a:xfrm>
              <a:off x="0" y="-9525"/>
              <a:ext cx="5486400" cy="741045"/>
            </a:xfrm>
            <a:prstGeom prst="rect">
              <a:avLst/>
            </a:prstGeom>
          </p:spPr>
          <p:txBody>
            <a:bodyPr anchor="ctr" rtlCol="false" tIns="0" lIns="0" bIns="0" rIns="0"/>
            <a:lstStyle/>
            <a:p>
              <a:pPr algn="ctr">
                <a:lnSpc>
                  <a:spcPts val="2879"/>
                </a:lnSpc>
              </a:pPr>
              <a:r>
                <a:rPr lang="en-US" sz="2400" b="true">
                  <a:solidFill>
                    <a:srgbClr val="05375A"/>
                  </a:solidFill>
                  <a:latin typeface="Cambria Bold"/>
                  <a:ea typeface="Cambria Bold"/>
                  <a:cs typeface="Cambria Bold"/>
                  <a:sym typeface="Cambria Bold"/>
                </a:rPr>
                <a:t>Frontend</a:t>
              </a:r>
            </a:p>
          </p:txBody>
        </p:sp>
      </p:grpSp>
      <p:grpSp>
        <p:nvGrpSpPr>
          <p:cNvPr name="Group 20" id="20"/>
          <p:cNvGrpSpPr/>
          <p:nvPr/>
        </p:nvGrpSpPr>
        <p:grpSpPr>
          <a:xfrm rot="0">
            <a:off x="1668551" y="5939028"/>
            <a:ext cx="4114800" cy="480060"/>
            <a:chOff x="0" y="0"/>
            <a:chExt cx="5486400" cy="640080"/>
          </a:xfrm>
        </p:grpSpPr>
        <p:sp>
          <p:nvSpPr>
            <p:cNvPr name="Freeform 21" id="21"/>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3">
                <a:alphaModFix amt="0"/>
              </a:blip>
              <a:stretch>
                <a:fillRect l="0" t="-117014" r="0" b="-117014"/>
              </a:stretch>
            </a:blipFill>
          </p:spPr>
        </p:sp>
        <p:sp>
          <p:nvSpPr>
            <p:cNvPr name="TextBox 22" id="22"/>
            <p:cNvSpPr txBox="true"/>
            <p:nvPr/>
          </p:nvSpPr>
          <p:spPr>
            <a:xfrm>
              <a:off x="0" y="-38100"/>
              <a:ext cx="5486400" cy="678180"/>
            </a:xfrm>
            <a:prstGeom prst="rect">
              <a:avLst/>
            </a:prstGeom>
          </p:spPr>
          <p:txBody>
            <a:bodyPr anchor="ctr" rtlCol="false" tIns="0" lIns="0" bIns="0" rIns="0"/>
            <a:lstStyle/>
            <a:p>
              <a:pPr algn="ctr">
                <a:lnSpc>
                  <a:spcPts val="2250"/>
                </a:lnSpc>
              </a:pPr>
              <a:r>
                <a:rPr lang="en-US" sz="1875" b="true">
                  <a:solidFill>
                    <a:srgbClr val="028090"/>
                  </a:solidFill>
                  <a:latin typeface="Calibri (MS) Bold"/>
                  <a:ea typeface="Calibri (MS) Bold"/>
                  <a:cs typeface="Calibri (MS) Bold"/>
                  <a:sym typeface="Calibri (MS) Bold"/>
                </a:rPr>
                <a:t>React.js</a:t>
              </a:r>
            </a:p>
          </p:txBody>
        </p:sp>
      </p:grpSp>
      <p:grpSp>
        <p:nvGrpSpPr>
          <p:cNvPr name="Group 23" id="23"/>
          <p:cNvGrpSpPr/>
          <p:nvPr/>
        </p:nvGrpSpPr>
        <p:grpSpPr>
          <a:xfrm rot="0">
            <a:off x="1737131" y="6515100"/>
            <a:ext cx="3977640" cy="1645920"/>
            <a:chOff x="0" y="0"/>
            <a:chExt cx="5303520" cy="2194560"/>
          </a:xfrm>
        </p:grpSpPr>
        <p:sp>
          <p:nvSpPr>
            <p:cNvPr name="Freeform 24" id="24"/>
            <p:cNvSpPr/>
            <p:nvPr/>
          </p:nvSpPr>
          <p:spPr>
            <a:xfrm flipH="false" flipV="false" rot="0">
              <a:off x="0" y="0"/>
              <a:ext cx="5303520" cy="2194560"/>
            </a:xfrm>
            <a:custGeom>
              <a:avLst/>
              <a:gdLst/>
              <a:ahLst/>
              <a:cxnLst/>
              <a:rect r="r" b="b" t="t" l="l"/>
              <a:pathLst>
                <a:path h="2194560" w="5303520">
                  <a:moveTo>
                    <a:pt x="0" y="0"/>
                  </a:moveTo>
                  <a:lnTo>
                    <a:pt x="5303520" y="0"/>
                  </a:lnTo>
                  <a:lnTo>
                    <a:pt x="5303520" y="2194560"/>
                  </a:lnTo>
                  <a:lnTo>
                    <a:pt x="0" y="2194560"/>
                  </a:lnTo>
                  <a:close/>
                </a:path>
              </a:pathLst>
            </a:custGeom>
            <a:blipFill>
              <a:blip r:embed="rId3">
                <a:alphaModFix amt="0"/>
              </a:blip>
              <a:stretch>
                <a:fillRect l="-3091" t="0" r="-3091" b="0"/>
              </a:stretch>
            </a:blipFill>
          </p:spPr>
        </p:sp>
        <p:sp>
          <p:nvSpPr>
            <p:cNvPr name="TextBox 25" id="25"/>
            <p:cNvSpPr txBox="true"/>
            <p:nvPr/>
          </p:nvSpPr>
          <p:spPr>
            <a:xfrm>
              <a:off x="0" y="-57150"/>
              <a:ext cx="5303520" cy="2251710"/>
            </a:xfrm>
            <a:prstGeom prst="rect">
              <a:avLst/>
            </a:prstGeom>
          </p:spPr>
          <p:txBody>
            <a:bodyPr anchor="ctr" rtlCol="false" tIns="0" lIns="0" bIns="0" rIns="0"/>
            <a:lstStyle/>
            <a:p>
              <a:pPr algn="ctr">
                <a:lnSpc>
                  <a:spcPts val="2268"/>
                </a:lnSpc>
              </a:pPr>
              <a:r>
                <a:rPr lang="en-US" sz="1575">
                  <a:solidFill>
                    <a:srgbClr val="1B2B34"/>
                  </a:solidFill>
                  <a:latin typeface="Calibri (MS)"/>
                  <a:ea typeface="Calibri (MS)"/>
                  <a:cs typeface="Calibri (MS)"/>
                  <a:sym typeface="Calibri (MS)"/>
                </a:rPr>
                <a:t>Web interface used by students and administrators to view rooms, manage events, and handle registrations.</a:t>
              </a:r>
            </a:p>
          </p:txBody>
        </p:sp>
      </p:grpSp>
      <p:grpSp>
        <p:nvGrpSpPr>
          <p:cNvPr name="Group 26" id="26"/>
          <p:cNvGrpSpPr/>
          <p:nvPr/>
        </p:nvGrpSpPr>
        <p:grpSpPr>
          <a:xfrm rot="0">
            <a:off x="6126251" y="5650992"/>
            <a:ext cx="617220" cy="493776"/>
            <a:chOff x="0" y="0"/>
            <a:chExt cx="822960" cy="658368"/>
          </a:xfrm>
        </p:grpSpPr>
        <p:sp>
          <p:nvSpPr>
            <p:cNvPr name="Freeform 27" id="27"/>
            <p:cNvSpPr/>
            <p:nvPr/>
          </p:nvSpPr>
          <p:spPr>
            <a:xfrm flipH="false" flipV="false" rot="0">
              <a:off x="0" y="0"/>
              <a:ext cx="822960" cy="658368"/>
            </a:xfrm>
            <a:custGeom>
              <a:avLst/>
              <a:gdLst/>
              <a:ahLst/>
              <a:cxnLst/>
              <a:rect r="r" b="b" t="t" l="l"/>
              <a:pathLst>
                <a:path h="658368" w="822960">
                  <a:moveTo>
                    <a:pt x="0" y="164592"/>
                  </a:moveTo>
                  <a:lnTo>
                    <a:pt x="493776" y="164592"/>
                  </a:lnTo>
                  <a:lnTo>
                    <a:pt x="493776" y="0"/>
                  </a:lnTo>
                  <a:lnTo>
                    <a:pt x="822960" y="329184"/>
                  </a:lnTo>
                  <a:lnTo>
                    <a:pt x="493776" y="658368"/>
                  </a:lnTo>
                  <a:lnTo>
                    <a:pt x="493776" y="493776"/>
                  </a:lnTo>
                  <a:lnTo>
                    <a:pt x="0" y="493776"/>
                  </a:lnTo>
                  <a:close/>
                </a:path>
              </a:pathLst>
            </a:custGeom>
            <a:solidFill>
              <a:srgbClr val="02C39A"/>
            </a:solidFill>
          </p:spPr>
        </p:sp>
      </p:grpSp>
      <p:grpSp>
        <p:nvGrpSpPr>
          <p:cNvPr name="Group 28" id="28"/>
          <p:cNvGrpSpPr/>
          <p:nvPr/>
        </p:nvGrpSpPr>
        <p:grpSpPr>
          <a:xfrm rot="0">
            <a:off x="6797764" y="3483292"/>
            <a:ext cx="4692015" cy="4829175"/>
            <a:chOff x="0" y="0"/>
            <a:chExt cx="6256020" cy="6438900"/>
          </a:xfrm>
        </p:grpSpPr>
        <p:sp>
          <p:nvSpPr>
            <p:cNvPr name="Freeform 29" id="29"/>
            <p:cNvSpPr/>
            <p:nvPr/>
          </p:nvSpPr>
          <p:spPr>
            <a:xfrm flipH="false" flipV="false" rot="0">
              <a:off x="0" y="0"/>
              <a:ext cx="6256020" cy="6438900"/>
            </a:xfrm>
            <a:custGeom>
              <a:avLst/>
              <a:gdLst/>
              <a:ahLst/>
              <a:cxnLst/>
              <a:rect r="r" b="b" t="t" l="l"/>
              <a:pathLst>
                <a:path h="6438900" w="6256020">
                  <a:moveTo>
                    <a:pt x="0" y="220726"/>
                  </a:moveTo>
                  <a:cubicBezTo>
                    <a:pt x="0" y="98806"/>
                    <a:pt x="98806" y="0"/>
                    <a:pt x="220726" y="0"/>
                  </a:cubicBezTo>
                  <a:lnTo>
                    <a:pt x="6035294" y="0"/>
                  </a:lnTo>
                  <a:cubicBezTo>
                    <a:pt x="6157214" y="0"/>
                    <a:pt x="6256020" y="98806"/>
                    <a:pt x="6256020" y="220726"/>
                  </a:cubicBezTo>
                  <a:lnTo>
                    <a:pt x="6256020" y="6218174"/>
                  </a:lnTo>
                  <a:cubicBezTo>
                    <a:pt x="6256020" y="6340094"/>
                    <a:pt x="6157214" y="6438900"/>
                    <a:pt x="6035294" y="6438900"/>
                  </a:cubicBezTo>
                  <a:lnTo>
                    <a:pt x="220726" y="6438900"/>
                  </a:lnTo>
                  <a:cubicBezTo>
                    <a:pt x="98806" y="6438900"/>
                    <a:pt x="0" y="6340094"/>
                    <a:pt x="0" y="6218174"/>
                  </a:cubicBezTo>
                  <a:close/>
                </a:path>
              </a:pathLst>
            </a:custGeom>
            <a:solidFill>
              <a:srgbClr val="F4F7F8"/>
            </a:solidFill>
            <a:ln w="28575" cap="sq">
              <a:solidFill>
                <a:srgbClr val="00A896"/>
              </a:solidFill>
              <a:prstDash val="solid"/>
              <a:miter/>
            </a:ln>
          </p:spPr>
        </p:sp>
      </p:grpSp>
      <p:grpSp>
        <p:nvGrpSpPr>
          <p:cNvPr name="Group 30" id="30"/>
          <p:cNvGrpSpPr/>
          <p:nvPr/>
        </p:nvGrpSpPr>
        <p:grpSpPr>
          <a:xfrm rot="0">
            <a:off x="8526551" y="3977640"/>
            <a:ext cx="1234440" cy="1234440"/>
            <a:chOff x="0" y="0"/>
            <a:chExt cx="1645920" cy="1645920"/>
          </a:xfrm>
        </p:grpSpPr>
        <p:sp>
          <p:nvSpPr>
            <p:cNvPr name="Freeform 31" id="31"/>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0A896"/>
            </a:solidFill>
          </p:spPr>
        </p:sp>
      </p:grpSp>
      <p:grpSp>
        <p:nvGrpSpPr>
          <p:cNvPr name="Group 32" id="32"/>
          <p:cNvGrpSpPr/>
          <p:nvPr/>
        </p:nvGrpSpPr>
        <p:grpSpPr>
          <a:xfrm rot="0">
            <a:off x="8814587" y="4265676"/>
            <a:ext cx="658368" cy="658368"/>
            <a:chOff x="0" y="0"/>
            <a:chExt cx="877824" cy="877824"/>
          </a:xfrm>
        </p:grpSpPr>
        <p:sp>
          <p:nvSpPr>
            <p:cNvPr name="Freeform 33" id="33" descr="/home/claude/proj/icons/node_white.png"/>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lnTo>
                    <a:pt x="0" y="0"/>
                  </a:lnTo>
                  <a:close/>
                </a:path>
              </a:pathLst>
            </a:custGeom>
            <a:blipFill>
              <a:blip r:embed="rId5"/>
              <a:stretch>
                <a:fillRect l="0" t="0" r="0" b="0"/>
              </a:stretch>
            </a:blipFill>
          </p:spPr>
        </p:sp>
      </p:grpSp>
      <p:grpSp>
        <p:nvGrpSpPr>
          <p:cNvPr name="Group 34" id="34"/>
          <p:cNvGrpSpPr/>
          <p:nvPr/>
        </p:nvGrpSpPr>
        <p:grpSpPr>
          <a:xfrm rot="0">
            <a:off x="7086371" y="5417820"/>
            <a:ext cx="4114800" cy="548640"/>
            <a:chOff x="0" y="0"/>
            <a:chExt cx="5486400" cy="731520"/>
          </a:xfrm>
        </p:grpSpPr>
        <p:sp>
          <p:nvSpPr>
            <p:cNvPr name="Freeform 35" id="35"/>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3">
                <a:alphaModFix amt="0"/>
              </a:blip>
              <a:stretch>
                <a:fillRect l="0" t="-96137" r="0" b="-96137"/>
              </a:stretch>
            </a:blipFill>
          </p:spPr>
        </p:sp>
        <p:sp>
          <p:nvSpPr>
            <p:cNvPr name="TextBox 36" id="36"/>
            <p:cNvSpPr txBox="true"/>
            <p:nvPr/>
          </p:nvSpPr>
          <p:spPr>
            <a:xfrm>
              <a:off x="0" y="-9525"/>
              <a:ext cx="5486400" cy="741045"/>
            </a:xfrm>
            <a:prstGeom prst="rect">
              <a:avLst/>
            </a:prstGeom>
          </p:spPr>
          <p:txBody>
            <a:bodyPr anchor="ctr" rtlCol="false" tIns="0" lIns="0" bIns="0" rIns="0"/>
            <a:lstStyle/>
            <a:p>
              <a:pPr algn="ctr">
                <a:lnSpc>
                  <a:spcPts val="2879"/>
                </a:lnSpc>
              </a:pPr>
              <a:r>
                <a:rPr lang="en-US" sz="2400" b="true">
                  <a:solidFill>
                    <a:srgbClr val="05375A"/>
                  </a:solidFill>
                  <a:latin typeface="Cambria Bold"/>
                  <a:ea typeface="Cambria Bold"/>
                  <a:cs typeface="Cambria Bold"/>
                  <a:sym typeface="Cambria Bold"/>
                </a:rPr>
                <a:t>Backend</a:t>
              </a:r>
            </a:p>
          </p:txBody>
        </p:sp>
      </p:grpSp>
      <p:grpSp>
        <p:nvGrpSpPr>
          <p:cNvPr name="Group 37" id="37"/>
          <p:cNvGrpSpPr/>
          <p:nvPr/>
        </p:nvGrpSpPr>
        <p:grpSpPr>
          <a:xfrm rot="0">
            <a:off x="7086371" y="5939028"/>
            <a:ext cx="4114800" cy="480060"/>
            <a:chOff x="0" y="0"/>
            <a:chExt cx="5486400" cy="640080"/>
          </a:xfrm>
        </p:grpSpPr>
        <p:sp>
          <p:nvSpPr>
            <p:cNvPr name="Freeform 38" id="38"/>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3">
                <a:alphaModFix amt="0"/>
              </a:blip>
              <a:stretch>
                <a:fillRect l="0" t="-117014" r="0" b="-117014"/>
              </a:stretch>
            </a:blipFill>
          </p:spPr>
        </p:sp>
        <p:sp>
          <p:nvSpPr>
            <p:cNvPr name="TextBox 39" id="39"/>
            <p:cNvSpPr txBox="true"/>
            <p:nvPr/>
          </p:nvSpPr>
          <p:spPr>
            <a:xfrm>
              <a:off x="0" y="-38100"/>
              <a:ext cx="5486400" cy="678180"/>
            </a:xfrm>
            <a:prstGeom prst="rect">
              <a:avLst/>
            </a:prstGeom>
          </p:spPr>
          <p:txBody>
            <a:bodyPr anchor="ctr" rtlCol="false" tIns="0" lIns="0" bIns="0" rIns="0"/>
            <a:lstStyle/>
            <a:p>
              <a:pPr algn="ctr">
                <a:lnSpc>
                  <a:spcPts val="2250"/>
                </a:lnSpc>
              </a:pPr>
              <a:r>
                <a:rPr lang="en-US" sz="1875" b="true">
                  <a:solidFill>
                    <a:srgbClr val="00A896"/>
                  </a:solidFill>
                  <a:latin typeface="Calibri (MS) Bold"/>
                  <a:ea typeface="Calibri (MS) Bold"/>
                  <a:cs typeface="Calibri (MS) Bold"/>
                  <a:sym typeface="Calibri (MS) Bold"/>
                </a:rPr>
                <a:t>Node.js + Express.js</a:t>
              </a:r>
            </a:p>
          </p:txBody>
        </p:sp>
      </p:grpSp>
      <p:grpSp>
        <p:nvGrpSpPr>
          <p:cNvPr name="Group 40" id="40"/>
          <p:cNvGrpSpPr/>
          <p:nvPr/>
        </p:nvGrpSpPr>
        <p:grpSpPr>
          <a:xfrm rot="0">
            <a:off x="7154951" y="6515100"/>
            <a:ext cx="3977640" cy="1645920"/>
            <a:chOff x="0" y="0"/>
            <a:chExt cx="5303520" cy="2194560"/>
          </a:xfrm>
        </p:grpSpPr>
        <p:sp>
          <p:nvSpPr>
            <p:cNvPr name="Freeform 41" id="41"/>
            <p:cNvSpPr/>
            <p:nvPr/>
          </p:nvSpPr>
          <p:spPr>
            <a:xfrm flipH="false" flipV="false" rot="0">
              <a:off x="0" y="0"/>
              <a:ext cx="5303520" cy="2194560"/>
            </a:xfrm>
            <a:custGeom>
              <a:avLst/>
              <a:gdLst/>
              <a:ahLst/>
              <a:cxnLst/>
              <a:rect r="r" b="b" t="t" l="l"/>
              <a:pathLst>
                <a:path h="2194560" w="5303520">
                  <a:moveTo>
                    <a:pt x="0" y="0"/>
                  </a:moveTo>
                  <a:lnTo>
                    <a:pt x="5303520" y="0"/>
                  </a:lnTo>
                  <a:lnTo>
                    <a:pt x="5303520" y="2194560"/>
                  </a:lnTo>
                  <a:lnTo>
                    <a:pt x="0" y="2194560"/>
                  </a:lnTo>
                  <a:close/>
                </a:path>
              </a:pathLst>
            </a:custGeom>
            <a:blipFill>
              <a:blip r:embed="rId3">
                <a:alphaModFix amt="0"/>
              </a:blip>
              <a:stretch>
                <a:fillRect l="-3091" t="0" r="-3091" b="0"/>
              </a:stretch>
            </a:blipFill>
          </p:spPr>
        </p:sp>
        <p:sp>
          <p:nvSpPr>
            <p:cNvPr name="TextBox 42" id="42"/>
            <p:cNvSpPr txBox="true"/>
            <p:nvPr/>
          </p:nvSpPr>
          <p:spPr>
            <a:xfrm>
              <a:off x="0" y="-57150"/>
              <a:ext cx="5303520" cy="2251710"/>
            </a:xfrm>
            <a:prstGeom prst="rect">
              <a:avLst/>
            </a:prstGeom>
          </p:spPr>
          <p:txBody>
            <a:bodyPr anchor="ctr" rtlCol="false" tIns="0" lIns="0" bIns="0" rIns="0"/>
            <a:lstStyle/>
            <a:p>
              <a:pPr algn="ctr">
                <a:lnSpc>
                  <a:spcPts val="2268"/>
                </a:lnSpc>
              </a:pPr>
              <a:r>
                <a:rPr lang="en-US" sz="1575">
                  <a:solidFill>
                    <a:srgbClr val="1B2B34"/>
                  </a:solidFill>
                  <a:latin typeface="Calibri (MS)"/>
                  <a:ea typeface="Calibri (MS)"/>
                  <a:cs typeface="Calibri (MS)"/>
                  <a:sym typeface="Calibri (MS)"/>
                </a:rPr>
                <a:t>REST API layer that will handle business logic, validation, and conflict checks.</a:t>
              </a:r>
            </a:p>
          </p:txBody>
        </p:sp>
      </p:grpSp>
      <p:grpSp>
        <p:nvGrpSpPr>
          <p:cNvPr name="Group 43" id="43"/>
          <p:cNvGrpSpPr/>
          <p:nvPr/>
        </p:nvGrpSpPr>
        <p:grpSpPr>
          <a:xfrm rot="0">
            <a:off x="11544071" y="5650992"/>
            <a:ext cx="617220" cy="493776"/>
            <a:chOff x="0" y="0"/>
            <a:chExt cx="822960" cy="658368"/>
          </a:xfrm>
        </p:grpSpPr>
        <p:sp>
          <p:nvSpPr>
            <p:cNvPr name="Freeform 44" id="44"/>
            <p:cNvSpPr/>
            <p:nvPr/>
          </p:nvSpPr>
          <p:spPr>
            <a:xfrm flipH="false" flipV="false" rot="0">
              <a:off x="0" y="0"/>
              <a:ext cx="822960" cy="658368"/>
            </a:xfrm>
            <a:custGeom>
              <a:avLst/>
              <a:gdLst/>
              <a:ahLst/>
              <a:cxnLst/>
              <a:rect r="r" b="b" t="t" l="l"/>
              <a:pathLst>
                <a:path h="658368" w="822960">
                  <a:moveTo>
                    <a:pt x="0" y="164592"/>
                  </a:moveTo>
                  <a:lnTo>
                    <a:pt x="493776" y="164592"/>
                  </a:lnTo>
                  <a:lnTo>
                    <a:pt x="493776" y="0"/>
                  </a:lnTo>
                  <a:lnTo>
                    <a:pt x="822960" y="329184"/>
                  </a:lnTo>
                  <a:lnTo>
                    <a:pt x="493776" y="658368"/>
                  </a:lnTo>
                  <a:lnTo>
                    <a:pt x="493776" y="493776"/>
                  </a:lnTo>
                  <a:lnTo>
                    <a:pt x="0" y="493776"/>
                  </a:lnTo>
                  <a:close/>
                </a:path>
              </a:pathLst>
            </a:custGeom>
            <a:solidFill>
              <a:srgbClr val="02C39A"/>
            </a:solidFill>
          </p:spPr>
        </p:sp>
      </p:grpSp>
      <p:grpSp>
        <p:nvGrpSpPr>
          <p:cNvPr name="Group 45" id="45"/>
          <p:cNvGrpSpPr/>
          <p:nvPr/>
        </p:nvGrpSpPr>
        <p:grpSpPr>
          <a:xfrm rot="0">
            <a:off x="12215584" y="3483292"/>
            <a:ext cx="4692015" cy="4829175"/>
            <a:chOff x="0" y="0"/>
            <a:chExt cx="6256020" cy="6438900"/>
          </a:xfrm>
        </p:grpSpPr>
        <p:sp>
          <p:nvSpPr>
            <p:cNvPr name="Freeform 46" id="46"/>
            <p:cNvSpPr/>
            <p:nvPr/>
          </p:nvSpPr>
          <p:spPr>
            <a:xfrm flipH="false" flipV="false" rot="0">
              <a:off x="0" y="0"/>
              <a:ext cx="6256020" cy="6438900"/>
            </a:xfrm>
            <a:custGeom>
              <a:avLst/>
              <a:gdLst/>
              <a:ahLst/>
              <a:cxnLst/>
              <a:rect r="r" b="b" t="t" l="l"/>
              <a:pathLst>
                <a:path h="6438900" w="6256020">
                  <a:moveTo>
                    <a:pt x="0" y="220726"/>
                  </a:moveTo>
                  <a:cubicBezTo>
                    <a:pt x="0" y="98806"/>
                    <a:pt x="98806" y="0"/>
                    <a:pt x="220726" y="0"/>
                  </a:cubicBezTo>
                  <a:lnTo>
                    <a:pt x="6035294" y="0"/>
                  </a:lnTo>
                  <a:cubicBezTo>
                    <a:pt x="6157214" y="0"/>
                    <a:pt x="6256020" y="98806"/>
                    <a:pt x="6256020" y="220726"/>
                  </a:cubicBezTo>
                  <a:lnTo>
                    <a:pt x="6256020" y="6218174"/>
                  </a:lnTo>
                  <a:cubicBezTo>
                    <a:pt x="6256020" y="6340094"/>
                    <a:pt x="6157214" y="6438900"/>
                    <a:pt x="6035294" y="6438900"/>
                  </a:cubicBezTo>
                  <a:lnTo>
                    <a:pt x="220726" y="6438900"/>
                  </a:lnTo>
                  <a:cubicBezTo>
                    <a:pt x="98806" y="6438900"/>
                    <a:pt x="0" y="6340094"/>
                    <a:pt x="0" y="6218174"/>
                  </a:cubicBezTo>
                  <a:close/>
                </a:path>
              </a:pathLst>
            </a:custGeom>
            <a:solidFill>
              <a:srgbClr val="F4F7F8"/>
            </a:solidFill>
            <a:ln w="28575" cap="sq">
              <a:solidFill>
                <a:srgbClr val="05375A"/>
              </a:solidFill>
              <a:prstDash val="solid"/>
              <a:miter/>
            </a:ln>
          </p:spPr>
        </p:sp>
      </p:grpSp>
      <p:grpSp>
        <p:nvGrpSpPr>
          <p:cNvPr name="Group 47" id="47"/>
          <p:cNvGrpSpPr/>
          <p:nvPr/>
        </p:nvGrpSpPr>
        <p:grpSpPr>
          <a:xfrm rot="0">
            <a:off x="13944371" y="3977640"/>
            <a:ext cx="1234440" cy="1234440"/>
            <a:chOff x="0" y="0"/>
            <a:chExt cx="1645920" cy="1645920"/>
          </a:xfrm>
        </p:grpSpPr>
        <p:sp>
          <p:nvSpPr>
            <p:cNvPr name="Freeform 48" id="48"/>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5375A"/>
            </a:solidFill>
          </p:spPr>
        </p:sp>
      </p:grpSp>
      <p:grpSp>
        <p:nvGrpSpPr>
          <p:cNvPr name="Group 49" id="49"/>
          <p:cNvGrpSpPr/>
          <p:nvPr/>
        </p:nvGrpSpPr>
        <p:grpSpPr>
          <a:xfrm rot="0">
            <a:off x="14232407" y="4265676"/>
            <a:ext cx="658368" cy="658368"/>
            <a:chOff x="0" y="0"/>
            <a:chExt cx="877824" cy="877824"/>
          </a:xfrm>
        </p:grpSpPr>
        <p:sp>
          <p:nvSpPr>
            <p:cNvPr name="Freeform 50" id="50" descr="/home/claude/proj/icons/database_white.png"/>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lnTo>
                    <a:pt x="0" y="0"/>
                  </a:lnTo>
                  <a:close/>
                </a:path>
              </a:pathLst>
            </a:custGeom>
            <a:blipFill>
              <a:blip r:embed="rId6"/>
              <a:stretch>
                <a:fillRect l="0" t="0" r="0" b="0"/>
              </a:stretch>
            </a:blipFill>
          </p:spPr>
        </p:sp>
      </p:grpSp>
      <p:grpSp>
        <p:nvGrpSpPr>
          <p:cNvPr name="Group 51" id="51"/>
          <p:cNvGrpSpPr/>
          <p:nvPr/>
        </p:nvGrpSpPr>
        <p:grpSpPr>
          <a:xfrm rot="0">
            <a:off x="12504191" y="5417820"/>
            <a:ext cx="4114800" cy="548640"/>
            <a:chOff x="0" y="0"/>
            <a:chExt cx="5486400" cy="731520"/>
          </a:xfrm>
        </p:grpSpPr>
        <p:sp>
          <p:nvSpPr>
            <p:cNvPr name="Freeform 52" id="52"/>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3">
                <a:alphaModFix amt="0"/>
              </a:blip>
              <a:stretch>
                <a:fillRect l="0" t="-96137" r="0" b="-96137"/>
              </a:stretch>
            </a:blipFill>
          </p:spPr>
        </p:sp>
        <p:sp>
          <p:nvSpPr>
            <p:cNvPr name="TextBox 53" id="53"/>
            <p:cNvSpPr txBox="true"/>
            <p:nvPr/>
          </p:nvSpPr>
          <p:spPr>
            <a:xfrm>
              <a:off x="0" y="-9525"/>
              <a:ext cx="5486400" cy="741045"/>
            </a:xfrm>
            <a:prstGeom prst="rect">
              <a:avLst/>
            </a:prstGeom>
          </p:spPr>
          <p:txBody>
            <a:bodyPr anchor="ctr" rtlCol="false" tIns="0" lIns="0" bIns="0" rIns="0"/>
            <a:lstStyle/>
            <a:p>
              <a:pPr algn="ctr">
                <a:lnSpc>
                  <a:spcPts val="2879"/>
                </a:lnSpc>
              </a:pPr>
              <a:r>
                <a:rPr lang="en-US" sz="2400" b="true">
                  <a:solidFill>
                    <a:srgbClr val="05375A"/>
                  </a:solidFill>
                  <a:latin typeface="Cambria Bold"/>
                  <a:ea typeface="Cambria Bold"/>
                  <a:cs typeface="Cambria Bold"/>
                  <a:sym typeface="Cambria Bold"/>
                </a:rPr>
                <a:t>Database</a:t>
              </a:r>
            </a:p>
          </p:txBody>
        </p:sp>
      </p:grpSp>
      <p:grpSp>
        <p:nvGrpSpPr>
          <p:cNvPr name="Group 54" id="54"/>
          <p:cNvGrpSpPr/>
          <p:nvPr/>
        </p:nvGrpSpPr>
        <p:grpSpPr>
          <a:xfrm rot="0">
            <a:off x="12504191" y="5939028"/>
            <a:ext cx="4114800" cy="480060"/>
            <a:chOff x="0" y="0"/>
            <a:chExt cx="5486400" cy="640080"/>
          </a:xfrm>
        </p:grpSpPr>
        <p:sp>
          <p:nvSpPr>
            <p:cNvPr name="Freeform 55" id="55"/>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3">
                <a:alphaModFix amt="0"/>
              </a:blip>
              <a:stretch>
                <a:fillRect l="0" t="-117014" r="0" b="-117014"/>
              </a:stretch>
            </a:blipFill>
          </p:spPr>
        </p:sp>
        <p:sp>
          <p:nvSpPr>
            <p:cNvPr name="TextBox 56" id="56"/>
            <p:cNvSpPr txBox="true"/>
            <p:nvPr/>
          </p:nvSpPr>
          <p:spPr>
            <a:xfrm>
              <a:off x="0" y="-38100"/>
              <a:ext cx="5486400" cy="678180"/>
            </a:xfrm>
            <a:prstGeom prst="rect">
              <a:avLst/>
            </a:prstGeom>
          </p:spPr>
          <p:txBody>
            <a:bodyPr anchor="ctr" rtlCol="false" tIns="0" lIns="0" bIns="0" rIns="0"/>
            <a:lstStyle/>
            <a:p>
              <a:pPr algn="ctr">
                <a:lnSpc>
                  <a:spcPts val="2250"/>
                </a:lnSpc>
              </a:pPr>
              <a:r>
                <a:rPr lang="en-US" sz="1875" b="true">
                  <a:solidFill>
                    <a:srgbClr val="05375A"/>
                  </a:solidFill>
                  <a:latin typeface="Calibri (MS) Bold"/>
                  <a:ea typeface="Calibri (MS) Bold"/>
                  <a:cs typeface="Calibri (MS) Bold"/>
                  <a:sym typeface="Calibri (MS) Bold"/>
                </a:rPr>
                <a:t>MySQL</a:t>
              </a:r>
            </a:p>
          </p:txBody>
        </p:sp>
      </p:grpSp>
      <p:grpSp>
        <p:nvGrpSpPr>
          <p:cNvPr name="Group 57" id="57"/>
          <p:cNvGrpSpPr/>
          <p:nvPr/>
        </p:nvGrpSpPr>
        <p:grpSpPr>
          <a:xfrm rot="0">
            <a:off x="12572771" y="6515100"/>
            <a:ext cx="3977640" cy="1645920"/>
            <a:chOff x="0" y="0"/>
            <a:chExt cx="5303520" cy="2194560"/>
          </a:xfrm>
        </p:grpSpPr>
        <p:sp>
          <p:nvSpPr>
            <p:cNvPr name="Freeform 58" id="58"/>
            <p:cNvSpPr/>
            <p:nvPr/>
          </p:nvSpPr>
          <p:spPr>
            <a:xfrm flipH="false" flipV="false" rot="0">
              <a:off x="0" y="0"/>
              <a:ext cx="5303520" cy="2194560"/>
            </a:xfrm>
            <a:custGeom>
              <a:avLst/>
              <a:gdLst/>
              <a:ahLst/>
              <a:cxnLst/>
              <a:rect r="r" b="b" t="t" l="l"/>
              <a:pathLst>
                <a:path h="2194560" w="5303520">
                  <a:moveTo>
                    <a:pt x="0" y="0"/>
                  </a:moveTo>
                  <a:lnTo>
                    <a:pt x="5303520" y="0"/>
                  </a:lnTo>
                  <a:lnTo>
                    <a:pt x="5303520" y="2194560"/>
                  </a:lnTo>
                  <a:lnTo>
                    <a:pt x="0" y="2194560"/>
                  </a:lnTo>
                  <a:close/>
                </a:path>
              </a:pathLst>
            </a:custGeom>
            <a:blipFill>
              <a:blip r:embed="rId3">
                <a:alphaModFix amt="0"/>
              </a:blip>
              <a:stretch>
                <a:fillRect l="-3091" t="0" r="-3091" b="0"/>
              </a:stretch>
            </a:blipFill>
          </p:spPr>
        </p:sp>
        <p:sp>
          <p:nvSpPr>
            <p:cNvPr name="TextBox 59" id="59"/>
            <p:cNvSpPr txBox="true"/>
            <p:nvPr/>
          </p:nvSpPr>
          <p:spPr>
            <a:xfrm>
              <a:off x="0" y="-57150"/>
              <a:ext cx="5303520" cy="2251710"/>
            </a:xfrm>
            <a:prstGeom prst="rect">
              <a:avLst/>
            </a:prstGeom>
          </p:spPr>
          <p:txBody>
            <a:bodyPr anchor="ctr" rtlCol="false" tIns="0" lIns="0" bIns="0" rIns="0"/>
            <a:lstStyle/>
            <a:p>
              <a:pPr algn="ctr">
                <a:lnSpc>
                  <a:spcPts val="2268"/>
                </a:lnSpc>
              </a:pPr>
              <a:r>
                <a:rPr lang="en-US" sz="1575">
                  <a:solidFill>
                    <a:srgbClr val="1B2B34"/>
                  </a:solidFill>
                  <a:latin typeface="Calibri (MS)"/>
                  <a:ea typeface="Calibri (MS)"/>
                  <a:cs typeface="Calibri (MS)"/>
                  <a:sym typeface="Calibri (MS)"/>
                </a:rPr>
                <a:t>Relational database that will store users, rooms, events, registrations, bookings, and schedules.</a:t>
              </a:r>
            </a:p>
          </p:txBody>
        </p:sp>
      </p:grpSp>
      <p:grpSp>
        <p:nvGrpSpPr>
          <p:cNvPr name="Group 60" id="60"/>
          <p:cNvGrpSpPr/>
          <p:nvPr/>
        </p:nvGrpSpPr>
        <p:grpSpPr>
          <a:xfrm rot="0">
            <a:off x="960120" y="8846820"/>
            <a:ext cx="16322040" cy="548640"/>
            <a:chOff x="0" y="0"/>
            <a:chExt cx="21762720" cy="731520"/>
          </a:xfrm>
        </p:grpSpPr>
        <p:sp>
          <p:nvSpPr>
            <p:cNvPr name="Freeform 61" id="61"/>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62" id="62"/>
            <p:cNvSpPr txBox="true"/>
            <p:nvPr/>
          </p:nvSpPr>
          <p:spPr>
            <a:xfrm>
              <a:off x="0" y="-38100"/>
              <a:ext cx="21762720" cy="769620"/>
            </a:xfrm>
            <a:prstGeom prst="rect">
              <a:avLst/>
            </a:prstGeom>
          </p:spPr>
          <p:txBody>
            <a:bodyPr anchor="ctr" rtlCol="false" tIns="0" lIns="0" bIns="0" rIns="0"/>
            <a:lstStyle/>
            <a:p>
              <a:pPr algn="ctr">
                <a:lnSpc>
                  <a:spcPts val="2070"/>
                </a:lnSpc>
              </a:pPr>
              <a:r>
                <a:rPr lang="en-US" sz="1725">
                  <a:solidFill>
                    <a:srgbClr val="5C7080"/>
                  </a:solidFill>
                  <a:latin typeface="Calibri (MS)"/>
                  <a:ea typeface="Calibri (MS)"/>
                  <a:cs typeface="Calibri (MS)"/>
                  <a:sym typeface="Calibri (MS)"/>
                </a:rPr>
                <a:t>Supporting Tools:  MySQL Workbench (design)  •  Postman (API testing)  •  VS Code (development)  •  Git &amp; GitHub (version control)</a:t>
              </a:r>
            </a:p>
          </p:txBody>
        </p:sp>
      </p:grpSp>
      <p:grpSp>
        <p:nvGrpSpPr>
          <p:cNvPr name="Group 63" id="63"/>
          <p:cNvGrpSpPr/>
          <p:nvPr/>
        </p:nvGrpSpPr>
        <p:grpSpPr>
          <a:xfrm rot="0">
            <a:off x="685800" y="9710928"/>
            <a:ext cx="10972800" cy="411480"/>
            <a:chOff x="0" y="0"/>
            <a:chExt cx="14630400" cy="548640"/>
          </a:xfrm>
        </p:grpSpPr>
        <p:sp>
          <p:nvSpPr>
            <p:cNvPr name="Freeform 64" id="6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5" id="65"/>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5C7080"/>
                  </a:solidFill>
                  <a:latin typeface="Calibri (MS)"/>
                  <a:ea typeface="Calibri (MS)"/>
                  <a:cs typeface="Calibri (MS)"/>
                  <a:sym typeface="Calibri (MS)"/>
                </a:rPr>
                <a:t>Event &amp; Room Occupancy Management System</a:t>
              </a:r>
            </a:p>
          </p:txBody>
        </p:sp>
      </p:grpSp>
      <p:grpSp>
        <p:nvGrpSpPr>
          <p:cNvPr name="Group 66" id="66"/>
          <p:cNvGrpSpPr/>
          <p:nvPr/>
        </p:nvGrpSpPr>
        <p:grpSpPr>
          <a:xfrm rot="0">
            <a:off x="16915943" y="9710928"/>
            <a:ext cx="685800" cy="411480"/>
            <a:chOff x="0" y="0"/>
            <a:chExt cx="914400" cy="548640"/>
          </a:xfrm>
        </p:grpSpPr>
        <p:sp>
          <p:nvSpPr>
            <p:cNvPr name="Freeform 67" id="6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8" id="6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5C7080"/>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375A"/>
        </a:solidFill>
      </p:bgPr>
    </p:bg>
    <p:spTree>
      <p:nvGrpSpPr>
        <p:cNvPr id="1" name=""/>
        <p:cNvGrpSpPr/>
        <p:nvPr/>
      </p:nvGrpSpPr>
      <p:grpSpPr>
        <a:xfrm>
          <a:off x="0" y="0"/>
          <a:ext cx="0" cy="0"/>
          <a:chOff x="0" y="0"/>
          <a:chExt cx="0" cy="0"/>
        </a:xfrm>
      </p:grpSpPr>
      <p:grpSp>
        <p:nvGrpSpPr>
          <p:cNvPr name="Group 2" id="2"/>
          <p:cNvGrpSpPr/>
          <p:nvPr/>
        </p:nvGrpSpPr>
        <p:grpSpPr>
          <a:xfrm rot="0">
            <a:off x="96012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2160"/>
                </a:lnSpc>
              </a:pPr>
              <a:r>
                <a:rPr lang="en-US" b="true" sz="1800" spc="300">
                  <a:solidFill>
                    <a:srgbClr val="02C39A"/>
                  </a:solidFill>
                  <a:latin typeface="Calibri (MS) Bold"/>
                  <a:ea typeface="Calibri (MS) Bold"/>
                  <a:cs typeface="Calibri (MS) Bold"/>
                  <a:sym typeface="Calibri (MS) Bold"/>
                </a:rPr>
                <a:t>LOOKING AHEAD</a:t>
              </a:r>
            </a:p>
          </p:txBody>
        </p:sp>
      </p:grpSp>
      <p:grpSp>
        <p:nvGrpSpPr>
          <p:cNvPr name="Group 5" id="5"/>
          <p:cNvGrpSpPr/>
          <p:nvPr/>
        </p:nvGrpSpPr>
        <p:grpSpPr>
          <a:xfrm rot="0">
            <a:off x="960120" y="1069848"/>
            <a:ext cx="16322040" cy="960120"/>
            <a:chOff x="0" y="0"/>
            <a:chExt cx="21762720" cy="1280160"/>
          </a:xfrm>
        </p:grpSpPr>
        <p:sp>
          <p:nvSpPr>
            <p:cNvPr name="Freeform 6" id="6"/>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7" id="7"/>
            <p:cNvSpPr txBox="true"/>
            <p:nvPr/>
          </p:nvSpPr>
          <p:spPr>
            <a:xfrm>
              <a:off x="0" y="-19050"/>
              <a:ext cx="21762720" cy="129921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Expected Outcome &amp; Future Scope</a:t>
              </a:r>
            </a:p>
          </p:txBody>
        </p:sp>
      </p:grpSp>
      <p:grpSp>
        <p:nvGrpSpPr>
          <p:cNvPr name="Group 8" id="8"/>
          <p:cNvGrpSpPr/>
          <p:nvPr/>
        </p:nvGrpSpPr>
        <p:grpSpPr>
          <a:xfrm rot="0">
            <a:off x="960120" y="2811780"/>
            <a:ext cx="891540" cy="891540"/>
            <a:chOff x="0" y="0"/>
            <a:chExt cx="1188720" cy="1188720"/>
          </a:xfrm>
        </p:grpSpPr>
        <p:sp>
          <p:nvSpPr>
            <p:cNvPr name="Freeform 9" id="9"/>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028090"/>
            </a:solidFill>
          </p:spPr>
        </p:sp>
      </p:grpSp>
      <p:grpSp>
        <p:nvGrpSpPr>
          <p:cNvPr name="Group 10" id="10"/>
          <p:cNvGrpSpPr/>
          <p:nvPr/>
        </p:nvGrpSpPr>
        <p:grpSpPr>
          <a:xfrm rot="0">
            <a:off x="1165860" y="3017520"/>
            <a:ext cx="480060" cy="480060"/>
            <a:chOff x="0" y="0"/>
            <a:chExt cx="640080" cy="640080"/>
          </a:xfrm>
        </p:grpSpPr>
        <p:sp>
          <p:nvSpPr>
            <p:cNvPr name="Freeform 11" id="11" descr="/home/claude/proj/icons/building_white.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4"/>
              <a:stretch>
                <a:fillRect l="0" t="0" r="0" b="0"/>
              </a:stretch>
            </a:blipFill>
          </p:spPr>
        </p:sp>
      </p:grpSp>
      <p:grpSp>
        <p:nvGrpSpPr>
          <p:cNvPr name="Group 12" id="12"/>
          <p:cNvGrpSpPr/>
          <p:nvPr/>
        </p:nvGrpSpPr>
        <p:grpSpPr>
          <a:xfrm rot="0">
            <a:off x="2125980" y="2784348"/>
            <a:ext cx="6583680" cy="960120"/>
            <a:chOff x="0" y="0"/>
            <a:chExt cx="8778240" cy="1280160"/>
          </a:xfrm>
        </p:grpSpPr>
        <p:sp>
          <p:nvSpPr>
            <p:cNvPr name="Freeform 13" id="13"/>
            <p:cNvSpPr/>
            <p:nvPr/>
          </p:nvSpPr>
          <p:spPr>
            <a:xfrm flipH="false" flipV="false" rot="0">
              <a:off x="0" y="0"/>
              <a:ext cx="8778240" cy="1280160"/>
            </a:xfrm>
            <a:custGeom>
              <a:avLst/>
              <a:gdLst/>
              <a:ahLst/>
              <a:cxnLst/>
              <a:rect r="r" b="b" t="t" l="l"/>
              <a:pathLst>
                <a:path h="1280160" w="8778240">
                  <a:moveTo>
                    <a:pt x="0" y="0"/>
                  </a:moveTo>
                  <a:lnTo>
                    <a:pt x="8778240" y="0"/>
                  </a:lnTo>
                  <a:lnTo>
                    <a:pt x="8778240" y="1280160"/>
                  </a:lnTo>
                  <a:lnTo>
                    <a:pt x="0" y="1280160"/>
                  </a:lnTo>
                  <a:close/>
                </a:path>
              </a:pathLst>
            </a:custGeom>
            <a:blipFill>
              <a:blip r:embed="rId3">
                <a:alphaModFix amt="0"/>
              </a:blip>
              <a:stretch>
                <a:fillRect l="0" t="-83611" r="0" b="-83611"/>
              </a:stretch>
            </a:blipFill>
          </p:spPr>
        </p:sp>
        <p:sp>
          <p:nvSpPr>
            <p:cNvPr name="TextBox 14" id="14"/>
            <p:cNvSpPr txBox="true"/>
            <p:nvPr/>
          </p:nvSpPr>
          <p:spPr>
            <a:xfrm>
              <a:off x="0" y="-66675"/>
              <a:ext cx="8778240" cy="1346835"/>
            </a:xfrm>
            <a:prstGeom prst="rect">
              <a:avLst/>
            </a:prstGeom>
          </p:spPr>
          <p:txBody>
            <a:bodyPr anchor="ctr" rtlCol="false" tIns="0" lIns="0" bIns="0" rIns="0"/>
            <a:lstStyle/>
            <a:p>
              <a:pPr algn="l">
                <a:lnSpc>
                  <a:spcPts val="2794"/>
                </a:lnSpc>
              </a:pPr>
              <a:r>
                <a:rPr lang="en-US" sz="2025">
                  <a:solidFill>
                    <a:srgbClr val="FFFFFF"/>
                  </a:solidFill>
                  <a:latin typeface="Calibri (MS)"/>
                  <a:ea typeface="Calibri (MS)"/>
                  <a:cs typeface="Calibri (MS)"/>
                  <a:sym typeface="Calibri (MS)"/>
                </a:rPr>
                <a:t>Better utilization of college rooms and spaces</a:t>
              </a:r>
            </a:p>
          </p:txBody>
        </p:sp>
      </p:grpSp>
      <p:grpSp>
        <p:nvGrpSpPr>
          <p:cNvPr name="Group 15" id="15"/>
          <p:cNvGrpSpPr/>
          <p:nvPr/>
        </p:nvGrpSpPr>
        <p:grpSpPr>
          <a:xfrm rot="0">
            <a:off x="9464040" y="2811780"/>
            <a:ext cx="891540" cy="891540"/>
            <a:chOff x="0" y="0"/>
            <a:chExt cx="1188720" cy="1188720"/>
          </a:xfrm>
        </p:grpSpPr>
        <p:sp>
          <p:nvSpPr>
            <p:cNvPr name="Freeform 16" id="16"/>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028090"/>
            </a:solidFill>
          </p:spPr>
        </p:sp>
      </p:grpSp>
      <p:grpSp>
        <p:nvGrpSpPr>
          <p:cNvPr name="Group 17" id="17"/>
          <p:cNvGrpSpPr/>
          <p:nvPr/>
        </p:nvGrpSpPr>
        <p:grpSpPr>
          <a:xfrm rot="0">
            <a:off x="9669780" y="3017520"/>
            <a:ext cx="480060" cy="480060"/>
            <a:chOff x="0" y="0"/>
            <a:chExt cx="640080" cy="640080"/>
          </a:xfrm>
        </p:grpSpPr>
        <p:sp>
          <p:nvSpPr>
            <p:cNvPr name="Freeform 18" id="18" descr="/home/claude/proj/icons/warning_white.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5"/>
              <a:stretch>
                <a:fillRect l="0" t="0" r="0" b="0"/>
              </a:stretch>
            </a:blipFill>
          </p:spPr>
        </p:sp>
      </p:grpSp>
      <p:grpSp>
        <p:nvGrpSpPr>
          <p:cNvPr name="Group 19" id="19"/>
          <p:cNvGrpSpPr/>
          <p:nvPr/>
        </p:nvGrpSpPr>
        <p:grpSpPr>
          <a:xfrm rot="0">
            <a:off x="10629900" y="2784348"/>
            <a:ext cx="6583680" cy="960120"/>
            <a:chOff x="0" y="0"/>
            <a:chExt cx="8778240" cy="1280160"/>
          </a:xfrm>
        </p:grpSpPr>
        <p:sp>
          <p:nvSpPr>
            <p:cNvPr name="Freeform 20" id="20"/>
            <p:cNvSpPr/>
            <p:nvPr/>
          </p:nvSpPr>
          <p:spPr>
            <a:xfrm flipH="false" flipV="false" rot="0">
              <a:off x="0" y="0"/>
              <a:ext cx="8778240" cy="1280160"/>
            </a:xfrm>
            <a:custGeom>
              <a:avLst/>
              <a:gdLst/>
              <a:ahLst/>
              <a:cxnLst/>
              <a:rect r="r" b="b" t="t" l="l"/>
              <a:pathLst>
                <a:path h="1280160" w="8778240">
                  <a:moveTo>
                    <a:pt x="0" y="0"/>
                  </a:moveTo>
                  <a:lnTo>
                    <a:pt x="8778240" y="0"/>
                  </a:lnTo>
                  <a:lnTo>
                    <a:pt x="8778240" y="1280160"/>
                  </a:lnTo>
                  <a:lnTo>
                    <a:pt x="0" y="1280160"/>
                  </a:lnTo>
                  <a:close/>
                </a:path>
              </a:pathLst>
            </a:custGeom>
            <a:blipFill>
              <a:blip r:embed="rId3">
                <a:alphaModFix amt="0"/>
              </a:blip>
              <a:stretch>
                <a:fillRect l="0" t="-83611" r="0" b="-83611"/>
              </a:stretch>
            </a:blipFill>
          </p:spPr>
        </p:sp>
        <p:sp>
          <p:nvSpPr>
            <p:cNvPr name="TextBox 21" id="21"/>
            <p:cNvSpPr txBox="true"/>
            <p:nvPr/>
          </p:nvSpPr>
          <p:spPr>
            <a:xfrm>
              <a:off x="0" y="-66675"/>
              <a:ext cx="8778240" cy="1346835"/>
            </a:xfrm>
            <a:prstGeom prst="rect">
              <a:avLst/>
            </a:prstGeom>
          </p:spPr>
          <p:txBody>
            <a:bodyPr anchor="ctr" rtlCol="false" tIns="0" lIns="0" bIns="0" rIns="0"/>
            <a:lstStyle/>
            <a:p>
              <a:pPr algn="l">
                <a:lnSpc>
                  <a:spcPts val="2794"/>
                </a:lnSpc>
              </a:pPr>
              <a:r>
                <a:rPr lang="en-US" sz="2025">
                  <a:solidFill>
                    <a:srgbClr val="FFFFFF"/>
                  </a:solidFill>
                  <a:latin typeface="Calibri (MS)"/>
                  <a:ea typeface="Calibri (MS)"/>
                  <a:cs typeface="Calibri (MS)"/>
                  <a:sym typeface="Calibri (MS)"/>
                </a:rPr>
                <a:t>Reduced scheduling conflicts and double-bookings</a:t>
              </a:r>
            </a:p>
          </p:txBody>
        </p:sp>
      </p:grpSp>
      <p:grpSp>
        <p:nvGrpSpPr>
          <p:cNvPr name="Group 22" id="22"/>
          <p:cNvGrpSpPr/>
          <p:nvPr/>
        </p:nvGrpSpPr>
        <p:grpSpPr>
          <a:xfrm rot="0">
            <a:off x="960120" y="4251960"/>
            <a:ext cx="891540" cy="891540"/>
            <a:chOff x="0" y="0"/>
            <a:chExt cx="1188720" cy="1188720"/>
          </a:xfrm>
        </p:grpSpPr>
        <p:sp>
          <p:nvSpPr>
            <p:cNvPr name="Freeform 23" id="23"/>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028090"/>
            </a:solidFill>
          </p:spPr>
        </p:sp>
      </p:grpSp>
      <p:grpSp>
        <p:nvGrpSpPr>
          <p:cNvPr name="Group 24" id="24"/>
          <p:cNvGrpSpPr/>
          <p:nvPr/>
        </p:nvGrpSpPr>
        <p:grpSpPr>
          <a:xfrm rot="0">
            <a:off x="1165860" y="4457700"/>
            <a:ext cx="480060" cy="480060"/>
            <a:chOff x="0" y="0"/>
            <a:chExt cx="640080" cy="640080"/>
          </a:xfrm>
        </p:grpSpPr>
        <p:sp>
          <p:nvSpPr>
            <p:cNvPr name="Freeform 25" id="25" descr="/home/claude/proj/icons/users_white.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6"/>
              <a:stretch>
                <a:fillRect l="0" t="0" r="0" b="0"/>
              </a:stretch>
            </a:blipFill>
          </p:spPr>
        </p:sp>
      </p:grpSp>
      <p:grpSp>
        <p:nvGrpSpPr>
          <p:cNvPr name="Group 26" id="26"/>
          <p:cNvGrpSpPr/>
          <p:nvPr/>
        </p:nvGrpSpPr>
        <p:grpSpPr>
          <a:xfrm rot="0">
            <a:off x="2125980" y="4224528"/>
            <a:ext cx="6583680" cy="960120"/>
            <a:chOff x="0" y="0"/>
            <a:chExt cx="8778240" cy="1280160"/>
          </a:xfrm>
        </p:grpSpPr>
        <p:sp>
          <p:nvSpPr>
            <p:cNvPr name="Freeform 27" id="27"/>
            <p:cNvSpPr/>
            <p:nvPr/>
          </p:nvSpPr>
          <p:spPr>
            <a:xfrm flipH="false" flipV="false" rot="0">
              <a:off x="0" y="0"/>
              <a:ext cx="8778240" cy="1280160"/>
            </a:xfrm>
            <a:custGeom>
              <a:avLst/>
              <a:gdLst/>
              <a:ahLst/>
              <a:cxnLst/>
              <a:rect r="r" b="b" t="t" l="l"/>
              <a:pathLst>
                <a:path h="1280160" w="8778240">
                  <a:moveTo>
                    <a:pt x="0" y="0"/>
                  </a:moveTo>
                  <a:lnTo>
                    <a:pt x="8778240" y="0"/>
                  </a:lnTo>
                  <a:lnTo>
                    <a:pt x="8778240" y="1280160"/>
                  </a:lnTo>
                  <a:lnTo>
                    <a:pt x="0" y="1280160"/>
                  </a:lnTo>
                  <a:close/>
                </a:path>
              </a:pathLst>
            </a:custGeom>
            <a:blipFill>
              <a:blip r:embed="rId3">
                <a:alphaModFix amt="0"/>
              </a:blip>
              <a:stretch>
                <a:fillRect l="0" t="-83611" r="0" b="-83611"/>
              </a:stretch>
            </a:blipFill>
          </p:spPr>
        </p:sp>
        <p:sp>
          <p:nvSpPr>
            <p:cNvPr name="TextBox 28" id="28"/>
            <p:cNvSpPr txBox="true"/>
            <p:nvPr/>
          </p:nvSpPr>
          <p:spPr>
            <a:xfrm>
              <a:off x="0" y="-66675"/>
              <a:ext cx="8778240" cy="1346835"/>
            </a:xfrm>
            <a:prstGeom prst="rect">
              <a:avLst/>
            </a:prstGeom>
          </p:spPr>
          <p:txBody>
            <a:bodyPr anchor="ctr" rtlCol="false" tIns="0" lIns="0" bIns="0" rIns="0"/>
            <a:lstStyle/>
            <a:p>
              <a:pPr algn="l">
                <a:lnSpc>
                  <a:spcPts val="2794"/>
                </a:lnSpc>
              </a:pPr>
              <a:r>
                <a:rPr lang="en-US" sz="2025">
                  <a:solidFill>
                    <a:srgbClr val="FFFFFF"/>
                  </a:solidFill>
                  <a:latin typeface="Calibri (MS)"/>
                  <a:ea typeface="Calibri (MS)"/>
                  <a:cs typeface="Calibri (MS)"/>
                  <a:sym typeface="Calibri (MS)"/>
                </a:rPr>
                <a:t>Improved handling of event registrations and occupancy</a:t>
              </a:r>
            </a:p>
          </p:txBody>
        </p:sp>
      </p:grpSp>
      <p:grpSp>
        <p:nvGrpSpPr>
          <p:cNvPr name="Group 29" id="29"/>
          <p:cNvGrpSpPr/>
          <p:nvPr/>
        </p:nvGrpSpPr>
        <p:grpSpPr>
          <a:xfrm rot="0">
            <a:off x="9464040" y="4251960"/>
            <a:ext cx="891540" cy="891540"/>
            <a:chOff x="0" y="0"/>
            <a:chExt cx="1188720" cy="1188720"/>
          </a:xfrm>
        </p:grpSpPr>
        <p:sp>
          <p:nvSpPr>
            <p:cNvPr name="Freeform 30" id="30"/>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028090"/>
            </a:solidFill>
          </p:spPr>
        </p:sp>
      </p:grpSp>
      <p:grpSp>
        <p:nvGrpSpPr>
          <p:cNvPr name="Group 31" id="31"/>
          <p:cNvGrpSpPr/>
          <p:nvPr/>
        </p:nvGrpSpPr>
        <p:grpSpPr>
          <a:xfrm rot="0">
            <a:off x="9669780" y="4457700"/>
            <a:ext cx="480060" cy="480060"/>
            <a:chOff x="0" y="0"/>
            <a:chExt cx="640080" cy="640080"/>
          </a:xfrm>
        </p:grpSpPr>
        <p:sp>
          <p:nvSpPr>
            <p:cNvPr name="Freeform 32" id="32" descr="/home/claude/proj/icons/gear_white.png"/>
            <p:cNvSpPr/>
            <p:nvPr/>
          </p:nvSpPr>
          <p:spPr>
            <a:xfrm flipH="false" flipV="false" rot="0">
              <a:off x="0" y="0"/>
              <a:ext cx="640080" cy="640080"/>
            </a:xfrm>
            <a:custGeom>
              <a:avLst/>
              <a:gdLst/>
              <a:ahLst/>
              <a:cxnLst/>
              <a:rect r="r" b="b" t="t" l="l"/>
              <a:pathLst>
                <a:path h="640080" w="640080">
                  <a:moveTo>
                    <a:pt x="0" y="0"/>
                  </a:moveTo>
                  <a:lnTo>
                    <a:pt x="640080" y="0"/>
                  </a:lnTo>
                  <a:lnTo>
                    <a:pt x="640080" y="640080"/>
                  </a:lnTo>
                  <a:lnTo>
                    <a:pt x="0" y="640080"/>
                  </a:lnTo>
                  <a:lnTo>
                    <a:pt x="0" y="0"/>
                  </a:lnTo>
                  <a:close/>
                </a:path>
              </a:pathLst>
            </a:custGeom>
            <a:blipFill>
              <a:blip r:embed="rId7"/>
              <a:stretch>
                <a:fillRect l="0" t="0" r="0" b="0"/>
              </a:stretch>
            </a:blipFill>
          </p:spPr>
        </p:sp>
      </p:grpSp>
      <p:grpSp>
        <p:nvGrpSpPr>
          <p:cNvPr name="Group 33" id="33"/>
          <p:cNvGrpSpPr/>
          <p:nvPr/>
        </p:nvGrpSpPr>
        <p:grpSpPr>
          <a:xfrm rot="0">
            <a:off x="10629900" y="4224528"/>
            <a:ext cx="6583680" cy="960120"/>
            <a:chOff x="0" y="0"/>
            <a:chExt cx="8778240" cy="1280160"/>
          </a:xfrm>
        </p:grpSpPr>
        <p:sp>
          <p:nvSpPr>
            <p:cNvPr name="Freeform 34" id="34"/>
            <p:cNvSpPr/>
            <p:nvPr/>
          </p:nvSpPr>
          <p:spPr>
            <a:xfrm flipH="false" flipV="false" rot="0">
              <a:off x="0" y="0"/>
              <a:ext cx="8778240" cy="1280160"/>
            </a:xfrm>
            <a:custGeom>
              <a:avLst/>
              <a:gdLst/>
              <a:ahLst/>
              <a:cxnLst/>
              <a:rect r="r" b="b" t="t" l="l"/>
              <a:pathLst>
                <a:path h="1280160" w="8778240">
                  <a:moveTo>
                    <a:pt x="0" y="0"/>
                  </a:moveTo>
                  <a:lnTo>
                    <a:pt x="8778240" y="0"/>
                  </a:lnTo>
                  <a:lnTo>
                    <a:pt x="8778240" y="1280160"/>
                  </a:lnTo>
                  <a:lnTo>
                    <a:pt x="0" y="1280160"/>
                  </a:lnTo>
                  <a:close/>
                </a:path>
              </a:pathLst>
            </a:custGeom>
            <a:blipFill>
              <a:blip r:embed="rId3">
                <a:alphaModFix amt="0"/>
              </a:blip>
              <a:stretch>
                <a:fillRect l="0" t="-83611" r="0" b="-83611"/>
              </a:stretch>
            </a:blipFill>
          </p:spPr>
        </p:sp>
        <p:sp>
          <p:nvSpPr>
            <p:cNvPr name="TextBox 35" id="35"/>
            <p:cNvSpPr txBox="true"/>
            <p:nvPr/>
          </p:nvSpPr>
          <p:spPr>
            <a:xfrm>
              <a:off x="0" y="-66675"/>
              <a:ext cx="8778240" cy="1346835"/>
            </a:xfrm>
            <a:prstGeom prst="rect">
              <a:avLst/>
            </a:prstGeom>
          </p:spPr>
          <p:txBody>
            <a:bodyPr anchor="ctr" rtlCol="false" tIns="0" lIns="0" bIns="0" rIns="0"/>
            <a:lstStyle/>
            <a:p>
              <a:pPr algn="l">
                <a:lnSpc>
                  <a:spcPts val="2794"/>
                </a:lnSpc>
              </a:pPr>
              <a:r>
                <a:rPr lang="en-US" sz="2025">
                  <a:solidFill>
                    <a:srgbClr val="FFFFFF"/>
                  </a:solidFill>
                  <a:latin typeface="Calibri (MS)"/>
                  <a:ea typeface="Calibri (MS)"/>
                  <a:cs typeface="Calibri (MS)"/>
                  <a:sym typeface="Calibri (MS)"/>
                </a:rPr>
                <a:t>A single, centralized system for room and event management</a:t>
              </a:r>
            </a:p>
          </p:txBody>
        </p:sp>
      </p:grpSp>
      <p:grpSp>
        <p:nvGrpSpPr>
          <p:cNvPr name="Group 36" id="36"/>
          <p:cNvGrpSpPr/>
          <p:nvPr/>
        </p:nvGrpSpPr>
        <p:grpSpPr>
          <a:xfrm rot="0">
            <a:off x="952976" y="6233636"/>
            <a:ext cx="16336327" cy="2551748"/>
            <a:chOff x="0" y="0"/>
            <a:chExt cx="21781770" cy="3402330"/>
          </a:xfrm>
        </p:grpSpPr>
        <p:sp>
          <p:nvSpPr>
            <p:cNvPr name="Freeform 37" id="37"/>
            <p:cNvSpPr/>
            <p:nvPr/>
          </p:nvSpPr>
          <p:spPr>
            <a:xfrm flipH="false" flipV="false" rot="0">
              <a:off x="0" y="0"/>
              <a:ext cx="21781770" cy="3402330"/>
            </a:xfrm>
            <a:custGeom>
              <a:avLst/>
              <a:gdLst/>
              <a:ahLst/>
              <a:cxnLst/>
              <a:rect r="r" b="b" t="t" l="l"/>
              <a:pathLst>
                <a:path h="3402330" w="21781770">
                  <a:moveTo>
                    <a:pt x="0" y="220726"/>
                  </a:moveTo>
                  <a:cubicBezTo>
                    <a:pt x="0" y="98806"/>
                    <a:pt x="98806" y="0"/>
                    <a:pt x="220726" y="0"/>
                  </a:cubicBezTo>
                  <a:lnTo>
                    <a:pt x="21561044" y="0"/>
                  </a:lnTo>
                  <a:cubicBezTo>
                    <a:pt x="21682963" y="0"/>
                    <a:pt x="21781770" y="98806"/>
                    <a:pt x="21781770" y="220726"/>
                  </a:cubicBezTo>
                  <a:lnTo>
                    <a:pt x="21781770" y="3181604"/>
                  </a:lnTo>
                  <a:cubicBezTo>
                    <a:pt x="21781770" y="3303524"/>
                    <a:pt x="21682963" y="3402330"/>
                    <a:pt x="21561044" y="3402330"/>
                  </a:cubicBezTo>
                  <a:lnTo>
                    <a:pt x="220726" y="3402330"/>
                  </a:lnTo>
                  <a:cubicBezTo>
                    <a:pt x="98806" y="3402330"/>
                    <a:pt x="0" y="3303524"/>
                    <a:pt x="0" y="3181604"/>
                  </a:cubicBezTo>
                  <a:close/>
                </a:path>
              </a:pathLst>
            </a:custGeom>
            <a:solidFill>
              <a:srgbClr val="FFFFFF">
                <a:alpha val="392"/>
              </a:srgbClr>
            </a:solidFill>
            <a:ln w="14288" cap="sq">
              <a:solidFill>
                <a:srgbClr val="00A896"/>
              </a:solidFill>
              <a:prstDash val="solid"/>
              <a:miter/>
            </a:ln>
          </p:spPr>
        </p:sp>
      </p:grpSp>
      <p:grpSp>
        <p:nvGrpSpPr>
          <p:cNvPr name="Group 38" id="38"/>
          <p:cNvGrpSpPr/>
          <p:nvPr/>
        </p:nvGrpSpPr>
        <p:grpSpPr>
          <a:xfrm rot="0">
            <a:off x="1371600" y="6652260"/>
            <a:ext cx="576072" cy="576072"/>
            <a:chOff x="0" y="0"/>
            <a:chExt cx="768096" cy="768096"/>
          </a:xfrm>
        </p:grpSpPr>
        <p:sp>
          <p:nvSpPr>
            <p:cNvPr name="Freeform 39" id="39" descr="/home/claude/proj/icons/bell_mint.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8"/>
              <a:stretch>
                <a:fillRect l="0" t="0" r="0" b="0"/>
              </a:stretch>
            </a:blipFill>
          </p:spPr>
        </p:sp>
      </p:grpSp>
      <p:grpSp>
        <p:nvGrpSpPr>
          <p:cNvPr name="Group 40" id="40"/>
          <p:cNvGrpSpPr/>
          <p:nvPr/>
        </p:nvGrpSpPr>
        <p:grpSpPr>
          <a:xfrm rot="0">
            <a:off x="2125980" y="6624828"/>
            <a:ext cx="8229600" cy="617220"/>
            <a:chOff x="0" y="0"/>
            <a:chExt cx="10972800" cy="822960"/>
          </a:xfrm>
        </p:grpSpPr>
        <p:sp>
          <p:nvSpPr>
            <p:cNvPr name="Freeform 41" id="41"/>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42" id="42"/>
            <p:cNvSpPr txBox="true"/>
            <p:nvPr/>
          </p:nvSpPr>
          <p:spPr>
            <a:xfrm>
              <a:off x="0" y="-9525"/>
              <a:ext cx="10972800" cy="832485"/>
            </a:xfrm>
            <a:prstGeom prst="rect">
              <a:avLst/>
            </a:prstGeom>
          </p:spPr>
          <p:txBody>
            <a:bodyPr anchor="ctr" rtlCol="false" tIns="0" lIns="0" bIns="0" rIns="0"/>
            <a:lstStyle/>
            <a:p>
              <a:pPr algn="l">
                <a:lnSpc>
                  <a:spcPts val="3060"/>
                </a:lnSpc>
              </a:pPr>
              <a:r>
                <a:rPr lang="en-US" sz="2550" b="true">
                  <a:solidFill>
                    <a:srgbClr val="FFFFFF"/>
                  </a:solidFill>
                  <a:latin typeface="Cambria Bold"/>
                  <a:ea typeface="Cambria Bold"/>
                  <a:cs typeface="Cambria Bold"/>
                  <a:sym typeface="Cambria Bold"/>
                </a:rPr>
                <a:t>Future Scope</a:t>
              </a:r>
            </a:p>
          </p:txBody>
        </p:sp>
      </p:grpSp>
      <p:grpSp>
        <p:nvGrpSpPr>
          <p:cNvPr name="Group 43" id="43"/>
          <p:cNvGrpSpPr/>
          <p:nvPr/>
        </p:nvGrpSpPr>
        <p:grpSpPr>
          <a:xfrm rot="0">
            <a:off x="1371600" y="7406640"/>
            <a:ext cx="15361920" cy="1440180"/>
            <a:chOff x="0" y="0"/>
            <a:chExt cx="20482560" cy="1920240"/>
          </a:xfrm>
        </p:grpSpPr>
        <p:sp>
          <p:nvSpPr>
            <p:cNvPr name="Freeform 44" id="44"/>
            <p:cNvSpPr/>
            <p:nvPr/>
          </p:nvSpPr>
          <p:spPr>
            <a:xfrm flipH="false" flipV="false" rot="0">
              <a:off x="0" y="0"/>
              <a:ext cx="20482561" cy="1920240"/>
            </a:xfrm>
            <a:custGeom>
              <a:avLst/>
              <a:gdLst/>
              <a:ahLst/>
              <a:cxnLst/>
              <a:rect r="r" b="b" t="t" l="l"/>
              <a:pathLst>
                <a:path h="1920240" w="20482561">
                  <a:moveTo>
                    <a:pt x="0" y="0"/>
                  </a:moveTo>
                  <a:lnTo>
                    <a:pt x="20482561" y="0"/>
                  </a:lnTo>
                  <a:lnTo>
                    <a:pt x="20482561" y="1920240"/>
                  </a:lnTo>
                  <a:lnTo>
                    <a:pt x="0" y="1920240"/>
                  </a:lnTo>
                  <a:close/>
                </a:path>
              </a:pathLst>
            </a:custGeom>
            <a:blipFill>
              <a:blip r:embed="rId3">
                <a:alphaModFix amt="0"/>
              </a:blip>
              <a:stretch>
                <a:fillRect l="0" t="-157840" r="0" b="-157840"/>
              </a:stretch>
            </a:blipFill>
          </p:spPr>
        </p:sp>
        <p:sp>
          <p:nvSpPr>
            <p:cNvPr name="TextBox 45" id="45"/>
            <p:cNvSpPr txBox="true"/>
            <p:nvPr/>
          </p:nvSpPr>
          <p:spPr>
            <a:xfrm>
              <a:off x="0" y="-104775"/>
              <a:ext cx="20482560" cy="2025015"/>
            </a:xfrm>
            <a:prstGeom prst="rect">
              <a:avLst/>
            </a:prstGeom>
          </p:spPr>
          <p:txBody>
            <a:bodyPr anchor="ctr" rtlCol="false" tIns="0" lIns="0" bIns="0" rIns="0"/>
            <a:lstStyle/>
            <a:p>
              <a:pPr algn="l">
                <a:lnSpc>
                  <a:spcPts val="2925"/>
                </a:lnSpc>
              </a:pPr>
              <a:r>
                <a:rPr lang="en-US" sz="1875">
                  <a:solidFill>
                    <a:srgbClr val="D6E8EA"/>
                  </a:solidFill>
                  <a:latin typeface="Calibri (MS)"/>
                  <a:ea typeface="Calibri (MS)"/>
                  <a:cs typeface="Calibri (MS)"/>
                  <a:sym typeface="Calibri (MS)"/>
                </a:rPr>
                <a:t>Beyond the core system, future iterations may explore automated notifications for schedule changes, analytics dashboards for space utilization trends, and reporting tools to support long-term campus planning.</a:t>
              </a:r>
            </a:p>
          </p:txBody>
        </p:sp>
      </p:grpSp>
      <p:grpSp>
        <p:nvGrpSpPr>
          <p:cNvPr name="Group 46" id="46"/>
          <p:cNvGrpSpPr/>
          <p:nvPr/>
        </p:nvGrpSpPr>
        <p:grpSpPr>
          <a:xfrm rot="0">
            <a:off x="960120" y="9710928"/>
            <a:ext cx="14401800" cy="411480"/>
            <a:chOff x="0" y="0"/>
            <a:chExt cx="19202400" cy="548640"/>
          </a:xfrm>
        </p:grpSpPr>
        <p:sp>
          <p:nvSpPr>
            <p:cNvPr name="Freeform 47" id="47"/>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3">
                <a:alphaModFix amt="0"/>
              </a:blip>
              <a:stretch>
                <a:fillRect l="0" t="-631976" r="0" b="-631976"/>
              </a:stretch>
            </a:blipFill>
          </p:spPr>
        </p:sp>
        <p:sp>
          <p:nvSpPr>
            <p:cNvPr name="TextBox 48" id="48"/>
            <p:cNvSpPr txBox="true"/>
            <p:nvPr/>
          </p:nvSpPr>
          <p:spPr>
            <a:xfrm>
              <a:off x="0" y="-38100"/>
              <a:ext cx="19202400" cy="586740"/>
            </a:xfrm>
            <a:prstGeom prst="rect">
              <a:avLst/>
            </a:prstGeom>
          </p:spPr>
          <p:txBody>
            <a:bodyPr anchor="ctr" rtlCol="false" tIns="0" lIns="0" bIns="0" rIns="0"/>
            <a:lstStyle/>
            <a:p>
              <a:pPr algn="l">
                <a:lnSpc>
                  <a:spcPts val="1709"/>
                </a:lnSpc>
              </a:pPr>
              <a:r>
                <a:rPr lang="en-US" sz="1425" i="true">
                  <a:solidFill>
                    <a:srgbClr val="8FB6BC"/>
                  </a:solidFill>
                  <a:latin typeface="Calibri (MS) Italics"/>
                  <a:ea typeface="Calibri (MS) Italics"/>
                  <a:cs typeface="Calibri (MS) Italics"/>
                  <a:sym typeface="Calibri (MS) Italics"/>
                </a:rPr>
                <a:t>Proposed system — features described reflect planned functionality, not current implementation.</a:t>
              </a:r>
            </a:p>
          </p:txBody>
        </p:sp>
      </p:grpSp>
      <p:grpSp>
        <p:nvGrpSpPr>
          <p:cNvPr name="Group 49" id="49"/>
          <p:cNvGrpSpPr/>
          <p:nvPr/>
        </p:nvGrpSpPr>
        <p:grpSpPr>
          <a:xfrm rot="0">
            <a:off x="16915943" y="9710928"/>
            <a:ext cx="685800" cy="411480"/>
            <a:chOff x="0" y="0"/>
            <a:chExt cx="914400" cy="548640"/>
          </a:xfrm>
        </p:grpSpPr>
        <p:sp>
          <p:nvSpPr>
            <p:cNvPr name="Freeform 50" id="5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1" id="51"/>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AACBD3"/>
                  </a:solidFill>
                  <a:latin typeface="Calibri (MS)"/>
                  <a:ea typeface="Calibri (MS)"/>
                  <a:cs typeface="Calibri (MS)"/>
                  <a:sym typeface="Calibri (MS)"/>
                </a:rPr>
                <a:t>7</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DAHSlMW2keE</dc:identifier>
  <dcterms:modified xsi:type="dcterms:W3CDTF">2011-08-01T06:04:30Z</dcterms:modified>
  <cp:revision>1</cp:revision>
  <dc:title>Event_Room_Occupancy_Management_System.pptx</dc:title>
</cp:coreProperties>
</file>