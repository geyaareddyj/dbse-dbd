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5989320"/>
            <a:ext cx="2377440" cy="2377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914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 ·  DATABASE SYSTEMS ENGINEERING &amp; DISTRIBUTED BACKEND DEVELOPMENT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&amp; Room Occupancy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2  —  Design, Progress &amp; Demonstration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10 · Team 1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2026–2027, Tri-4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5349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Geya Reddy · Kamtam Priyanka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administrators lack a single, reliable way to see which campus rooms are free and to manage events without last-minute chaos.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907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availability is invisible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273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free rooms during college hours — there is no shared, real-time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99923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907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registrations disrupt planning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273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Hackathons, workshops and seminars often see sudden participant surges beyond initial estimates.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599432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07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Conflicts go undetected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737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leads to double-booked rooms and scheduling clashes.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3434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599432"/>
            <a:ext cx="502920" cy="50292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079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is used inefficiently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8737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occupancy tracking, capacity mismatches and overcrowding are common.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10512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platform for room and event management across campus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69464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5059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real-time visibility into room availability and schedules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209544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28416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954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event creation, room allocation and participant registration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968496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87368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96849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prevent room-booking conflicts before they occur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727448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4632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72744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expected vs. actual occupancy to support data-driven decisions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5486400"/>
            <a:ext cx="10607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605272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48640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utilization of campus spaces and reduce manual effort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web-based platform where students discover rooms and events, and administrators allocate space, monitor registrations, and track real occupancy — all from one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56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Room Availability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real-time room status, capacity and schedules before booking.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7952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Scheduling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and manage events, allocate rooms and set expected turnout.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72984" y="25146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2743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0158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8101584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Registration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101584" y="3721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for events; the system tracks registrations against capacity.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6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Detection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overlapping bookings and capacity mismatches.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16552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6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16552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console to monitor bookings, rooms and occupancy trends.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72984" y="4389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4617720"/>
            <a:ext cx="548640" cy="54864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01584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60" dirty="0"/>
          </a:p>
        </p:txBody>
      </p:sp>
      <p:sp>
        <p:nvSpPr>
          <p:cNvPr id="33" name="Text 31"/>
          <p:cNvSpPr txBox="1"/>
          <p:nvPr/>
        </p:nvSpPr>
        <p:spPr>
          <a:xfrm>
            <a:off x="8101584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Tracking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101584" y="55961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expected vs. actual attendance to guide future planning.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3063240"/>
            <a:ext cx="2834640" cy="1828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Room availability views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Event &amp; registration UI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dashboard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4747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7B2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7B2CB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3063240"/>
            <a:ext cx="2834640" cy="1828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 endpoints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logic &amp; validation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 detection engine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34747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4108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6213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283464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3063240"/>
            <a:ext cx="2834640" cy="182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4108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Users, Rooms, Events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Bookings &amp; Schedules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4251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Occupancy Records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flow through the Express REST API, which applies business rules (e.g. conflict checks) before reading or writing to MySQL — keeping presentation, logic and data cleanly separated.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/ Functionalities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911096"/>
            <a:ext cx="530352" cy="5303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8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606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 and role-based access for students &amp; admins.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27832" y="169164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911096"/>
            <a:ext cx="530352" cy="530352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8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06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Management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rooms with capacity, building, type and equipment.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52744" y="169164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911096"/>
            <a:ext cx="530352" cy="5303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8" dirty="0"/>
          </a:p>
        </p:txBody>
      </p:sp>
      <p:sp>
        <p:nvSpPr>
          <p:cNvPr id="17" name="Text 15"/>
          <p:cNvSpPr txBox="1"/>
          <p:nvPr/>
        </p:nvSpPr>
        <p:spPr>
          <a:xfrm>
            <a:off x="6153912" y="2606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Management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53912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allocate rooms to events with expected turnout.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77656" y="169164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97112" y="1911096"/>
            <a:ext cx="530352" cy="5303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97112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8" dirty="0"/>
          </a:p>
        </p:txBody>
      </p:sp>
      <p:sp>
        <p:nvSpPr>
          <p:cNvPr id="22" name="Text 20"/>
          <p:cNvSpPr txBox="1"/>
          <p:nvPr/>
        </p:nvSpPr>
        <p:spPr>
          <a:xfrm>
            <a:off x="8878824" y="260604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Module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78824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for events; seats tracked against capacity.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" y="4242816"/>
            <a:ext cx="530352" cy="530352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8" dirty="0"/>
          </a:p>
        </p:txBody>
      </p:sp>
      <p:sp>
        <p:nvSpPr>
          <p:cNvPr id="27" name="Text 25"/>
          <p:cNvSpPr txBox="1"/>
          <p:nvPr/>
        </p:nvSpPr>
        <p:spPr>
          <a:xfrm>
            <a:off x="704088" y="4937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Scheduling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" y="53766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rooms for time slots; detect overlapping bookings.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27832" y="402336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47288" y="4242816"/>
            <a:ext cx="530352" cy="5303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47288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08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4937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Tracking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53766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expected vs. actual attendance per event and room.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52744" y="402336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4242816"/>
            <a:ext cx="530352" cy="5303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72200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08" dirty="0"/>
          </a:p>
        </p:txBody>
      </p:sp>
      <p:sp>
        <p:nvSpPr>
          <p:cNvPr id="37" name="Text 35"/>
          <p:cNvSpPr txBox="1"/>
          <p:nvPr/>
        </p:nvSpPr>
        <p:spPr>
          <a:xfrm>
            <a:off x="6153912" y="4937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Alerts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153912" y="53766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double-bookings and capacity mismatches automatically.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77656" y="4023360"/>
            <a:ext cx="2523744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897112" y="4242816"/>
            <a:ext cx="530352" cy="530352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97112" y="4242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▥</a:t>
            </a:r>
            <a:endParaRPr lang="en-US" sz="1508" dirty="0"/>
          </a:p>
        </p:txBody>
      </p:sp>
      <p:sp>
        <p:nvSpPr>
          <p:cNvPr id="42" name="Text 40"/>
          <p:cNvSpPr txBox="1"/>
          <p:nvPr/>
        </p:nvSpPr>
        <p:spPr>
          <a:xfrm>
            <a:off x="8878824" y="4937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878824" y="53766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view of rooms, events, registrations and analytics.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BLUEPRINT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4290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3429000" cy="256032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19656"/>
            <a:ext cx="3429000" cy="128016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24712" y="169164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3154680" cy="502920"/>
          </a:xfrm>
          <a:prstGeom prst="roundRect">
            <a:avLst>
              <a:gd name="adj" fmla="val 9091"/>
            </a:avLst>
          </a:prstGeom>
          <a:solidFill>
            <a:srgbClr val="E4F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2130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room. Join an event.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1021080" cy="777240"/>
          </a:xfrm>
          <a:prstGeom prst="roundRect">
            <a:avLst>
              <a:gd name="adj" fmla="val 5882"/>
            </a:avLst>
          </a:prstGeom>
          <a:solidFill>
            <a:srgbClr val="E8EB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706880" y="2679192"/>
            <a:ext cx="1021080" cy="777240"/>
          </a:xfrm>
          <a:prstGeom prst="roundRect">
            <a:avLst>
              <a:gd name="adj" fmla="val 5882"/>
            </a:avLst>
          </a:prstGeom>
          <a:solidFill>
            <a:srgbClr val="E8EBF5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3680" y="2679192"/>
            <a:ext cx="1021080" cy="777240"/>
          </a:xfrm>
          <a:prstGeom prst="roundRect">
            <a:avLst>
              <a:gd name="adj" fmla="val 5882"/>
            </a:avLst>
          </a:prstGeom>
          <a:solidFill>
            <a:srgbClr val="E8EB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069080" y="1691640"/>
            <a:ext cx="34290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69080" y="1691640"/>
            <a:ext cx="3429000" cy="256032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9080" y="1819656"/>
            <a:ext cx="3429000" cy="128016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0520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6824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3128" y="177393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90872" y="169164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06340" y="2039112"/>
            <a:ext cx="15544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9220" y="2203704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9220" y="251460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9220" y="2825496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9220" y="3154680"/>
            <a:ext cx="1188720" cy="219456"/>
          </a:xfrm>
          <a:prstGeom prst="roundRect">
            <a:avLst>
              <a:gd name="adj" fmla="val 16667"/>
            </a:avLst>
          </a:prstGeom>
          <a:solidFill>
            <a:srgbClr val="7B2CBF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931920"/>
            <a:ext cx="34290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931920"/>
            <a:ext cx="3429000" cy="256032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059936"/>
            <a:ext cx="3429000" cy="128016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968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24712" y="3931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Registration Form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325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5800" y="4507992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782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5800" y="4965192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5239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5800" y="5422392"/>
            <a:ext cx="3063240" cy="256032"/>
          </a:xfrm>
          <a:prstGeom prst="roundRect">
            <a:avLst>
              <a:gd name="adj" fmla="val 14286"/>
            </a:avLst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576986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/>
        </p:spPr>
      </p:sp>
      <p:sp>
        <p:nvSpPr>
          <p:cNvPr id="42" name="Shape 40"/>
          <p:cNvSpPr/>
          <p:nvPr/>
        </p:nvSpPr>
        <p:spPr>
          <a:xfrm>
            <a:off x="4069080" y="3931920"/>
            <a:ext cx="342900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069080" y="3931920"/>
            <a:ext cx="3429000" cy="256032"/>
          </a:xfrm>
          <a:prstGeom prst="roundRect">
            <a:avLst>
              <a:gd name="adj" fmla="val 25000"/>
            </a:avLst>
          </a:prstGeom>
          <a:solidFill>
            <a:srgbClr val="16213E"/>
          </a:solidFill>
          <a:ln/>
        </p:spPr>
      </p:sp>
      <p:sp>
        <p:nvSpPr>
          <p:cNvPr id="44" name="Shape 42"/>
          <p:cNvSpPr/>
          <p:nvPr/>
        </p:nvSpPr>
        <p:spPr>
          <a:xfrm>
            <a:off x="4069080" y="4059936"/>
            <a:ext cx="3429000" cy="128016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46" name="Shape 44"/>
          <p:cNvSpPr/>
          <p:nvPr/>
        </p:nvSpPr>
        <p:spPr>
          <a:xfrm>
            <a:off x="4306824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47" name="Shape 45"/>
          <p:cNvSpPr/>
          <p:nvPr/>
        </p:nvSpPr>
        <p:spPr>
          <a:xfrm>
            <a:off x="4453128" y="4014216"/>
            <a:ext cx="82296" cy="82296"/>
          </a:xfrm>
          <a:prstGeom prst="ellipse">
            <a:avLst/>
          </a:prstGeom>
          <a:solidFill>
            <a:srgbClr val="8FA0D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690872" y="3931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06240" y="4297680"/>
            <a:ext cx="1021080" cy="457200"/>
          </a:xfrm>
          <a:prstGeom prst="roundRect">
            <a:avLst>
              <a:gd name="adj" fmla="val 10000"/>
            </a:avLst>
          </a:prstGeom>
          <a:solidFill>
            <a:srgbClr val="E4F9F6"/>
          </a:solidFill>
          <a:ln/>
        </p:spPr>
      </p:sp>
      <p:sp>
        <p:nvSpPr>
          <p:cNvPr id="50" name="Shape 48"/>
          <p:cNvSpPr/>
          <p:nvPr/>
        </p:nvSpPr>
        <p:spPr>
          <a:xfrm>
            <a:off x="5273040" y="4297680"/>
            <a:ext cx="1021080" cy="457200"/>
          </a:xfrm>
          <a:prstGeom prst="roundRect">
            <a:avLst>
              <a:gd name="adj" fmla="val 10000"/>
            </a:avLst>
          </a:prstGeom>
          <a:solidFill>
            <a:srgbClr val="F1E6FB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9840" y="4297680"/>
            <a:ext cx="1021080" cy="457200"/>
          </a:xfrm>
          <a:prstGeom prst="roundRect">
            <a:avLst>
              <a:gd name="adj" fmla="val 10000"/>
            </a:avLst>
          </a:prstGeom>
          <a:solidFill>
            <a:srgbClr val="E8EBF5"/>
          </a:solidFill>
          <a:ln/>
        </p:spPr>
      </p:sp>
      <p:sp>
        <p:nvSpPr>
          <p:cNvPr id="52" name="Shape 50"/>
          <p:cNvSpPr/>
          <p:nvPr/>
        </p:nvSpPr>
        <p:spPr>
          <a:xfrm>
            <a:off x="4206240" y="4846320"/>
            <a:ext cx="3154680" cy="822960"/>
          </a:xfrm>
          <a:prstGeom prst="roundRect">
            <a:avLst>
              <a:gd name="adj" fmla="val 5556"/>
            </a:avLst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5559552"/>
            <a:ext cx="624078" cy="731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4" name="Shape 52"/>
          <p:cNvSpPr/>
          <p:nvPr/>
        </p:nvSpPr>
        <p:spPr>
          <a:xfrm>
            <a:off x="5086350" y="5559552"/>
            <a:ext cx="624078" cy="1005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5" name="Shape 53"/>
          <p:cNvSpPr/>
          <p:nvPr/>
        </p:nvSpPr>
        <p:spPr>
          <a:xfrm>
            <a:off x="5783580" y="5559552"/>
            <a:ext cx="624078" cy="12801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6" name="Shape 54"/>
          <p:cNvSpPr/>
          <p:nvPr/>
        </p:nvSpPr>
        <p:spPr>
          <a:xfrm>
            <a:off x="6480810" y="5559552"/>
            <a:ext cx="624078" cy="1554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8181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781812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view surfacing quick room search and featured events.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1812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Registration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781812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auth screen for students and administrators.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78181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7818120" y="3904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event registration capturing attendee details.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81812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64" name="Text 62"/>
          <p:cNvSpPr txBox="1"/>
          <p:nvPr/>
        </p:nvSpPr>
        <p:spPr>
          <a:xfrm>
            <a:off x="7818120" y="4864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center for rooms, events and occupancy.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PROGRESS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screens are being implemented in React and connected to the REST API. Frames below mark each page's current build status.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1E6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67512" y="2514600"/>
            <a:ext cx="2185416" cy="274320"/>
          </a:xfrm>
          <a:prstGeom prst="roundRect">
            <a:avLst>
              <a:gd name="adj" fmla="val 16667"/>
            </a:avLst>
          </a:prstGeom>
          <a:solidFill>
            <a:srgbClr val="F6F8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10" name="Shape 8"/>
          <p:cNvSpPr/>
          <p:nvPr/>
        </p:nvSpPr>
        <p:spPr>
          <a:xfrm>
            <a:off x="1440180" y="34518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40180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1376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211580" y="51937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1158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1E6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410712" y="2514600"/>
            <a:ext cx="2185416" cy="274320"/>
          </a:xfrm>
          <a:prstGeom prst="roundRect">
            <a:avLst>
              <a:gd name="adj" fmla="val 16667"/>
            </a:avLst>
          </a:prstGeom>
          <a:solidFill>
            <a:srgbClr val="F6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48456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776472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183380" y="3451860"/>
            <a:ext cx="640080" cy="64008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83380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2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1376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Registration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54780" y="51937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95478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23317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1E6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153912" y="2514600"/>
            <a:ext cx="2185416" cy="274320"/>
          </a:xfrm>
          <a:prstGeom prst="roundRect">
            <a:avLst>
              <a:gd name="adj" fmla="val 16667"/>
            </a:avLst>
          </a:prstGeom>
          <a:solidFill>
            <a:srgbClr val="F6F8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91656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6580" y="3451860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26580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2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41376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Forms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97980" y="51937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9798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32520" y="233172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875">
            <a:solidFill>
              <a:srgbClr val="E1E6F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8897112" y="2514600"/>
            <a:ext cx="2185416" cy="274320"/>
          </a:xfrm>
          <a:prstGeom prst="roundRect">
            <a:avLst>
              <a:gd name="adj" fmla="val 16667"/>
            </a:avLst>
          </a:prstGeom>
          <a:solidFill>
            <a:srgbClr val="F6F8FC"/>
          </a:solidFill>
          <a:ln/>
        </p:spPr>
      </p:sp>
      <p:sp>
        <p:nvSpPr>
          <p:cNvPr id="40" name="Shape 38"/>
          <p:cNvSpPr/>
          <p:nvPr/>
        </p:nvSpPr>
        <p:spPr>
          <a:xfrm>
            <a:off x="9006840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41" name="Shape 39"/>
          <p:cNvSpPr/>
          <p:nvPr/>
        </p:nvSpPr>
        <p:spPr>
          <a:xfrm>
            <a:off x="9134856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42" name="Shape 40"/>
          <p:cNvSpPr/>
          <p:nvPr/>
        </p:nvSpPr>
        <p:spPr>
          <a:xfrm>
            <a:off x="9262872" y="2606040"/>
            <a:ext cx="73152" cy="73152"/>
          </a:xfrm>
          <a:prstGeom prst="ellipse">
            <a:avLst/>
          </a:prstGeom>
          <a:solidFill>
            <a:srgbClr val="E1E6F0"/>
          </a:solidFill>
          <a:ln/>
        </p:spPr>
      </p:sp>
      <p:sp>
        <p:nvSpPr>
          <p:cNvPr id="43" name="Shape 41"/>
          <p:cNvSpPr/>
          <p:nvPr/>
        </p:nvSpPr>
        <p:spPr>
          <a:xfrm>
            <a:off x="9669780" y="3451860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69780" y="34518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20" dirty="0"/>
          </a:p>
        </p:txBody>
      </p:sp>
      <p:sp>
        <p:nvSpPr>
          <p:cNvPr id="45" name="Text 43"/>
          <p:cNvSpPr txBox="1"/>
          <p:nvPr/>
        </p:nvSpPr>
        <p:spPr>
          <a:xfrm>
            <a:off x="8915400" y="41376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91540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441180" y="51937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44118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related tables model the domain — normalized to 3NF so every non-key attribute depends only on its table's primary key.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2240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7B2C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22402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2240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7B2C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5176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Schedules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" y="3611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Records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6060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→ Many Registrations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9352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29352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Many Registrations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2644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32644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One or More Bookings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593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→ Many Room_Schedules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9227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One Room (via Bookings)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526280"/>
            <a:ext cx="1060704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3NF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hold atomic, indivisible values.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fully depends on the primary key.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5303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between non-key attributes.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3200" dirty="0"/>
          </a:p>
        </p:txBody>
      </p:sp>
      <p:pic>
        <p:nvPicPr>
          <p:cNvPr id="4" name="Image 0" descr="/home/claude/ppt/ER_diagra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1536192"/>
            <a:ext cx="768096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/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456432" cy="2130552"/>
          </a:xfrm>
          <a:prstGeom prst="roundRect">
            <a:avLst>
              <a:gd name="adj" fmla="val 300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456432" cy="310896"/>
          </a:xfrm>
          <a:prstGeom prst="roundRect">
            <a:avLst>
              <a:gd name="adj" fmla="val 20588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92808"/>
            <a:ext cx="3456432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12648" y="16916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04825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204825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3406323" y="2048256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229514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229514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3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542032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542032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788920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2231136" y="2788920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3035808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2231136" y="3035808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612648" y="328269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2231136" y="328269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52958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2231136" y="352958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160520" y="1691640"/>
            <a:ext cx="3456432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1691640"/>
            <a:ext cx="3456432" cy="310896"/>
          </a:xfrm>
          <a:prstGeom prst="roundRect">
            <a:avLst>
              <a:gd name="adj" fmla="val 20588"/>
            </a:avLst>
          </a:prstGeom>
          <a:solidFill>
            <a:srgbClr val="7B2CB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0520" y="1892808"/>
            <a:ext cx="3456432" cy="109728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0248" y="16916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204825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204825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7063923" y="2048256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270248" y="229514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229514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30" dirty="0"/>
          </a:p>
        </p:txBody>
      </p:sp>
      <p:sp>
        <p:nvSpPr>
          <p:cNvPr id="32" name="Text 30"/>
          <p:cNvSpPr txBox="1"/>
          <p:nvPr/>
        </p:nvSpPr>
        <p:spPr>
          <a:xfrm>
            <a:off x="4270248" y="2542032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5888736" y="2542032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4270248" y="2788920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5888736" y="2788920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4270248" y="3035808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5888736" y="3035808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830" dirty="0"/>
          </a:p>
        </p:txBody>
      </p:sp>
      <p:sp>
        <p:nvSpPr>
          <p:cNvPr id="38" name="Text 36"/>
          <p:cNvSpPr txBox="1"/>
          <p:nvPr/>
        </p:nvSpPr>
        <p:spPr>
          <a:xfrm>
            <a:off x="4270248" y="328269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 / end_date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5888736" y="328269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4270248" y="352958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expected_participants</a:t>
            </a:r>
            <a:endParaRPr lang="en-US" sz="830" dirty="0"/>
          </a:p>
        </p:txBody>
      </p:sp>
      <p:sp>
        <p:nvSpPr>
          <p:cNvPr id="41" name="Text 39"/>
          <p:cNvSpPr txBox="1"/>
          <p:nvPr/>
        </p:nvSpPr>
        <p:spPr>
          <a:xfrm>
            <a:off x="5888736" y="352958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42" name="Text 40"/>
          <p:cNvSpPr txBox="1"/>
          <p:nvPr/>
        </p:nvSpPr>
        <p:spPr>
          <a:xfrm>
            <a:off x="4270248" y="3776472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830" dirty="0"/>
          </a:p>
        </p:txBody>
      </p:sp>
      <p:sp>
        <p:nvSpPr>
          <p:cNvPr id="43" name="Text 41"/>
          <p:cNvSpPr txBox="1"/>
          <p:nvPr/>
        </p:nvSpPr>
        <p:spPr>
          <a:xfrm>
            <a:off x="5888736" y="3776472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7063923" y="3776472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18120" y="1691640"/>
            <a:ext cx="384048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18120" y="1691640"/>
            <a:ext cx="3840480" cy="310896"/>
          </a:xfrm>
          <a:prstGeom prst="roundRect">
            <a:avLst>
              <a:gd name="adj" fmla="val 20588"/>
            </a:avLst>
          </a:prstGeom>
          <a:solidFill>
            <a:srgbClr val="2EC4B6"/>
          </a:solidFill>
          <a:ln/>
        </p:spPr>
      </p:sp>
      <p:sp>
        <p:nvSpPr>
          <p:cNvPr id="47" name="Shape 45"/>
          <p:cNvSpPr/>
          <p:nvPr/>
        </p:nvSpPr>
        <p:spPr>
          <a:xfrm>
            <a:off x="7818120" y="1892808"/>
            <a:ext cx="384048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927848" y="169164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927848" y="2048256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registration_id</a:t>
            </a:r>
            <a:endParaRPr lang="en-US" sz="830" dirty="0"/>
          </a:p>
        </p:txBody>
      </p:sp>
      <p:sp>
        <p:nvSpPr>
          <p:cNvPr id="50" name="Text 48"/>
          <p:cNvSpPr txBox="1"/>
          <p:nvPr/>
        </p:nvSpPr>
        <p:spPr>
          <a:xfrm>
            <a:off x="9738360" y="2048256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51" name="Text 49"/>
          <p:cNvSpPr txBox="1"/>
          <p:nvPr/>
        </p:nvSpPr>
        <p:spPr>
          <a:xfrm>
            <a:off x="11044123" y="2048256"/>
            <a:ext cx="537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927848" y="2295144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30" dirty="0"/>
          </a:p>
        </p:txBody>
      </p:sp>
      <p:sp>
        <p:nvSpPr>
          <p:cNvPr id="53" name="Text 51"/>
          <p:cNvSpPr txBox="1"/>
          <p:nvPr/>
        </p:nvSpPr>
        <p:spPr>
          <a:xfrm>
            <a:off x="9738360" y="2295144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54" name="Text 52"/>
          <p:cNvSpPr txBox="1"/>
          <p:nvPr/>
        </p:nvSpPr>
        <p:spPr>
          <a:xfrm>
            <a:off x="11044123" y="2295144"/>
            <a:ext cx="537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927848" y="2542032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830" dirty="0"/>
          </a:p>
        </p:txBody>
      </p:sp>
      <p:sp>
        <p:nvSpPr>
          <p:cNvPr id="56" name="Text 54"/>
          <p:cNvSpPr txBox="1"/>
          <p:nvPr/>
        </p:nvSpPr>
        <p:spPr>
          <a:xfrm>
            <a:off x="9738360" y="2542032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57" name="Text 55"/>
          <p:cNvSpPr txBox="1"/>
          <p:nvPr/>
        </p:nvSpPr>
        <p:spPr>
          <a:xfrm>
            <a:off x="11044123" y="2542032"/>
            <a:ext cx="537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7927848" y="2788920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registration_date</a:t>
            </a:r>
            <a:endParaRPr lang="en-US" sz="830" dirty="0"/>
          </a:p>
        </p:txBody>
      </p:sp>
      <p:sp>
        <p:nvSpPr>
          <p:cNvPr id="59" name="Text 57"/>
          <p:cNvSpPr txBox="1"/>
          <p:nvPr/>
        </p:nvSpPr>
        <p:spPr>
          <a:xfrm>
            <a:off x="9738360" y="2788920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30" dirty="0"/>
          </a:p>
        </p:txBody>
      </p:sp>
      <p:sp>
        <p:nvSpPr>
          <p:cNvPr id="60" name="Text 58"/>
          <p:cNvSpPr txBox="1"/>
          <p:nvPr/>
        </p:nvSpPr>
        <p:spPr>
          <a:xfrm>
            <a:off x="7927848" y="3035808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30" dirty="0"/>
          </a:p>
        </p:txBody>
      </p:sp>
      <p:sp>
        <p:nvSpPr>
          <p:cNvPr id="61" name="Text 59"/>
          <p:cNvSpPr txBox="1"/>
          <p:nvPr/>
        </p:nvSpPr>
        <p:spPr>
          <a:xfrm>
            <a:off x="9738360" y="3035808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30" dirty="0"/>
          </a:p>
        </p:txBody>
      </p:sp>
      <p:sp>
        <p:nvSpPr>
          <p:cNvPr id="62" name="Text 60"/>
          <p:cNvSpPr txBox="1"/>
          <p:nvPr/>
        </p:nvSpPr>
        <p:spPr>
          <a:xfrm>
            <a:off x="7927848" y="3282696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30" dirty="0"/>
          </a:p>
        </p:txBody>
      </p:sp>
      <p:sp>
        <p:nvSpPr>
          <p:cNvPr id="63" name="Text 61"/>
          <p:cNvSpPr txBox="1"/>
          <p:nvPr/>
        </p:nvSpPr>
        <p:spPr>
          <a:xfrm>
            <a:off x="9738360" y="3282696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02920" y="4160520"/>
            <a:ext cx="3456432" cy="1636776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4160520"/>
            <a:ext cx="3456432" cy="310896"/>
          </a:xfrm>
          <a:prstGeom prst="roundRect">
            <a:avLst>
              <a:gd name="adj" fmla="val 20588"/>
            </a:avLst>
          </a:prstGeom>
          <a:solidFill>
            <a:srgbClr val="2EC4B6"/>
          </a:solidFill>
          <a:ln/>
        </p:spPr>
      </p:sp>
      <p:sp>
        <p:nvSpPr>
          <p:cNvPr id="66" name="Shape 64"/>
          <p:cNvSpPr/>
          <p:nvPr/>
        </p:nvSpPr>
        <p:spPr>
          <a:xfrm>
            <a:off x="502920" y="4361688"/>
            <a:ext cx="3456432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12648" y="41605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612648" y="451713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</a:t>
            </a:r>
            <a:endParaRPr lang="en-US" sz="830" dirty="0"/>
          </a:p>
        </p:txBody>
      </p:sp>
      <p:sp>
        <p:nvSpPr>
          <p:cNvPr id="69" name="Text 67"/>
          <p:cNvSpPr txBox="1"/>
          <p:nvPr/>
        </p:nvSpPr>
        <p:spPr>
          <a:xfrm>
            <a:off x="2231136" y="451713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70" name="Text 68"/>
          <p:cNvSpPr txBox="1"/>
          <p:nvPr/>
        </p:nvSpPr>
        <p:spPr>
          <a:xfrm>
            <a:off x="3406323" y="4517136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612648" y="476402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/ room_id</a:t>
            </a:r>
            <a:endParaRPr lang="en-US" sz="830" dirty="0"/>
          </a:p>
        </p:txBody>
      </p:sp>
      <p:sp>
        <p:nvSpPr>
          <p:cNvPr id="72" name="Text 70"/>
          <p:cNvSpPr txBox="1"/>
          <p:nvPr/>
        </p:nvSpPr>
        <p:spPr>
          <a:xfrm>
            <a:off x="2231136" y="476402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73" name="Text 71"/>
          <p:cNvSpPr txBox="1"/>
          <p:nvPr/>
        </p:nvSpPr>
        <p:spPr>
          <a:xfrm>
            <a:off x="3406323" y="4764024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12648" y="5010912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30" dirty="0"/>
          </a:p>
        </p:txBody>
      </p:sp>
      <p:sp>
        <p:nvSpPr>
          <p:cNvPr id="75" name="Text 73"/>
          <p:cNvSpPr txBox="1"/>
          <p:nvPr/>
        </p:nvSpPr>
        <p:spPr>
          <a:xfrm>
            <a:off x="2231136" y="5010912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76" name="Text 74"/>
          <p:cNvSpPr txBox="1"/>
          <p:nvPr/>
        </p:nvSpPr>
        <p:spPr>
          <a:xfrm>
            <a:off x="3406323" y="5010912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612648" y="5257800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 / end_time</a:t>
            </a:r>
            <a:endParaRPr lang="en-US" sz="830" dirty="0"/>
          </a:p>
        </p:txBody>
      </p:sp>
      <p:sp>
        <p:nvSpPr>
          <p:cNvPr id="78" name="Text 76"/>
          <p:cNvSpPr txBox="1"/>
          <p:nvPr/>
        </p:nvSpPr>
        <p:spPr>
          <a:xfrm>
            <a:off x="2231136" y="5257800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30" dirty="0"/>
          </a:p>
        </p:txBody>
      </p:sp>
      <p:sp>
        <p:nvSpPr>
          <p:cNvPr id="79" name="Text 77"/>
          <p:cNvSpPr txBox="1"/>
          <p:nvPr/>
        </p:nvSpPr>
        <p:spPr>
          <a:xfrm>
            <a:off x="612648" y="5504688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30" dirty="0"/>
          </a:p>
        </p:txBody>
      </p:sp>
      <p:sp>
        <p:nvSpPr>
          <p:cNvPr id="80" name="Text 78"/>
          <p:cNvSpPr txBox="1"/>
          <p:nvPr/>
        </p:nvSpPr>
        <p:spPr>
          <a:xfrm>
            <a:off x="2231136" y="5504688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30" dirty="0"/>
          </a:p>
        </p:txBody>
      </p:sp>
      <p:sp>
        <p:nvSpPr>
          <p:cNvPr id="81" name="Shape 79"/>
          <p:cNvSpPr/>
          <p:nvPr/>
        </p:nvSpPr>
        <p:spPr>
          <a:xfrm>
            <a:off x="4160520" y="4160520"/>
            <a:ext cx="345643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4160520"/>
            <a:ext cx="3456432" cy="310896"/>
          </a:xfrm>
          <a:prstGeom prst="roundRect">
            <a:avLst>
              <a:gd name="adj" fmla="val 20588"/>
            </a:avLst>
          </a:prstGeom>
          <a:solidFill>
            <a:srgbClr val="16213E"/>
          </a:solidFill>
          <a:ln/>
        </p:spPr>
      </p:sp>
      <p:sp>
        <p:nvSpPr>
          <p:cNvPr id="83" name="Shape 81"/>
          <p:cNvSpPr/>
          <p:nvPr/>
        </p:nvSpPr>
        <p:spPr>
          <a:xfrm>
            <a:off x="4160520" y="4361688"/>
            <a:ext cx="3456432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4270248" y="416052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ROOM_SCHEDULES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4270248" y="4517136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schedule_id</a:t>
            </a:r>
            <a:endParaRPr lang="en-US" sz="830" dirty="0"/>
          </a:p>
        </p:txBody>
      </p:sp>
      <p:sp>
        <p:nvSpPr>
          <p:cNvPr id="86" name="Text 84"/>
          <p:cNvSpPr txBox="1"/>
          <p:nvPr/>
        </p:nvSpPr>
        <p:spPr>
          <a:xfrm>
            <a:off x="5888736" y="4517136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87" name="Text 85"/>
          <p:cNvSpPr txBox="1"/>
          <p:nvPr/>
        </p:nvSpPr>
        <p:spPr>
          <a:xfrm>
            <a:off x="7063923" y="4517136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4270248" y="4764024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 / event_id</a:t>
            </a:r>
            <a:endParaRPr lang="en-US" sz="830" dirty="0"/>
          </a:p>
        </p:txBody>
      </p:sp>
      <p:sp>
        <p:nvSpPr>
          <p:cNvPr id="89" name="Text 87"/>
          <p:cNvSpPr txBox="1"/>
          <p:nvPr/>
        </p:nvSpPr>
        <p:spPr>
          <a:xfrm>
            <a:off x="5888736" y="4764024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90" name="Text 88"/>
          <p:cNvSpPr txBox="1"/>
          <p:nvPr/>
        </p:nvSpPr>
        <p:spPr>
          <a:xfrm>
            <a:off x="7063923" y="4764024"/>
            <a:ext cx="4839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4270248" y="5010912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 / end_time</a:t>
            </a:r>
            <a:endParaRPr lang="en-US" sz="830" dirty="0"/>
          </a:p>
        </p:txBody>
      </p:sp>
      <p:sp>
        <p:nvSpPr>
          <p:cNvPr id="92" name="Text 90"/>
          <p:cNvSpPr txBox="1"/>
          <p:nvPr/>
        </p:nvSpPr>
        <p:spPr>
          <a:xfrm>
            <a:off x="5888736" y="5010912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30" dirty="0"/>
          </a:p>
        </p:txBody>
      </p:sp>
      <p:sp>
        <p:nvSpPr>
          <p:cNvPr id="93" name="Text 91"/>
          <p:cNvSpPr txBox="1"/>
          <p:nvPr/>
        </p:nvSpPr>
        <p:spPr>
          <a:xfrm>
            <a:off x="4270248" y="5257800"/>
            <a:ext cx="15899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30" dirty="0"/>
          </a:p>
        </p:txBody>
      </p:sp>
      <p:sp>
        <p:nvSpPr>
          <p:cNvPr id="94" name="Text 92"/>
          <p:cNvSpPr txBox="1"/>
          <p:nvPr/>
        </p:nvSpPr>
        <p:spPr>
          <a:xfrm>
            <a:off x="5888736" y="5257800"/>
            <a:ext cx="12443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30" dirty="0"/>
          </a:p>
        </p:txBody>
      </p:sp>
      <p:sp>
        <p:nvSpPr>
          <p:cNvPr id="95" name="Shape 93"/>
          <p:cNvSpPr/>
          <p:nvPr/>
        </p:nvSpPr>
        <p:spPr>
          <a:xfrm>
            <a:off x="7818120" y="4160520"/>
            <a:ext cx="384048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18120" y="4160520"/>
            <a:ext cx="3840480" cy="310896"/>
          </a:xfrm>
          <a:prstGeom prst="roundRect">
            <a:avLst>
              <a:gd name="adj" fmla="val 20588"/>
            </a:avLst>
          </a:prstGeom>
          <a:solidFill>
            <a:srgbClr val="7B2CBF"/>
          </a:solidFill>
          <a:ln/>
        </p:spPr>
      </p:sp>
      <p:sp>
        <p:nvSpPr>
          <p:cNvPr id="97" name="Shape 95"/>
          <p:cNvSpPr/>
          <p:nvPr/>
        </p:nvSpPr>
        <p:spPr>
          <a:xfrm>
            <a:off x="7818120" y="4361688"/>
            <a:ext cx="3840480" cy="109728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7927848" y="416052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OCCUPANCY_RECORDS</a:t>
            </a:r>
            <a:endParaRPr lang="en-US" sz="1150" dirty="0"/>
          </a:p>
        </p:txBody>
      </p:sp>
      <p:sp>
        <p:nvSpPr>
          <p:cNvPr id="99" name="Text 97"/>
          <p:cNvSpPr txBox="1"/>
          <p:nvPr/>
        </p:nvSpPr>
        <p:spPr>
          <a:xfrm>
            <a:off x="7927848" y="4517136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occupancy_id</a:t>
            </a:r>
            <a:endParaRPr lang="en-US" sz="830" dirty="0"/>
          </a:p>
        </p:txBody>
      </p:sp>
      <p:sp>
        <p:nvSpPr>
          <p:cNvPr id="100" name="Text 98"/>
          <p:cNvSpPr txBox="1"/>
          <p:nvPr/>
        </p:nvSpPr>
        <p:spPr>
          <a:xfrm>
            <a:off x="9738360" y="4517136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101" name="Text 99"/>
          <p:cNvSpPr txBox="1"/>
          <p:nvPr/>
        </p:nvSpPr>
        <p:spPr>
          <a:xfrm>
            <a:off x="11044123" y="4517136"/>
            <a:ext cx="537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7927848" y="4764024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/ room_id</a:t>
            </a:r>
            <a:endParaRPr lang="en-US" sz="830" dirty="0"/>
          </a:p>
        </p:txBody>
      </p:sp>
      <p:sp>
        <p:nvSpPr>
          <p:cNvPr id="103" name="Text 101"/>
          <p:cNvSpPr txBox="1"/>
          <p:nvPr/>
        </p:nvSpPr>
        <p:spPr>
          <a:xfrm>
            <a:off x="9738360" y="4764024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104" name="Text 102"/>
          <p:cNvSpPr txBox="1"/>
          <p:nvPr/>
        </p:nvSpPr>
        <p:spPr>
          <a:xfrm>
            <a:off x="11044123" y="4764024"/>
            <a:ext cx="537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7927848" y="5010912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30" dirty="0"/>
          </a:p>
        </p:txBody>
      </p:sp>
      <p:sp>
        <p:nvSpPr>
          <p:cNvPr id="106" name="Text 104"/>
          <p:cNvSpPr txBox="1"/>
          <p:nvPr/>
        </p:nvSpPr>
        <p:spPr>
          <a:xfrm>
            <a:off x="9738360" y="5010912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30" dirty="0"/>
          </a:p>
        </p:txBody>
      </p:sp>
      <p:sp>
        <p:nvSpPr>
          <p:cNvPr id="107" name="Text 105"/>
          <p:cNvSpPr txBox="1"/>
          <p:nvPr/>
        </p:nvSpPr>
        <p:spPr>
          <a:xfrm>
            <a:off x="7927848" y="5257800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expected_participants</a:t>
            </a:r>
            <a:endParaRPr lang="en-US" sz="830" dirty="0"/>
          </a:p>
        </p:txBody>
      </p:sp>
      <p:sp>
        <p:nvSpPr>
          <p:cNvPr id="108" name="Text 106"/>
          <p:cNvSpPr txBox="1"/>
          <p:nvPr/>
        </p:nvSpPr>
        <p:spPr>
          <a:xfrm>
            <a:off x="9738360" y="5257800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109" name="Text 107"/>
          <p:cNvSpPr txBox="1"/>
          <p:nvPr/>
        </p:nvSpPr>
        <p:spPr>
          <a:xfrm>
            <a:off x="7927848" y="5504688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registered_participants</a:t>
            </a:r>
            <a:endParaRPr lang="en-US" sz="830" dirty="0"/>
          </a:p>
        </p:txBody>
      </p:sp>
      <p:sp>
        <p:nvSpPr>
          <p:cNvPr id="110" name="Text 108"/>
          <p:cNvSpPr txBox="1"/>
          <p:nvPr/>
        </p:nvSpPr>
        <p:spPr>
          <a:xfrm>
            <a:off x="9738360" y="5504688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30" dirty="0"/>
          </a:p>
        </p:txBody>
      </p:sp>
      <p:sp>
        <p:nvSpPr>
          <p:cNvPr id="111" name="Text 109"/>
          <p:cNvSpPr txBox="1"/>
          <p:nvPr/>
        </p:nvSpPr>
        <p:spPr>
          <a:xfrm>
            <a:off x="7927848" y="5751576"/>
            <a:ext cx="17666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actual_occupancy</a:t>
            </a:r>
            <a:endParaRPr lang="en-US" sz="830" dirty="0"/>
          </a:p>
        </p:txBody>
      </p:sp>
      <p:sp>
        <p:nvSpPr>
          <p:cNvPr id="112" name="Text 110"/>
          <p:cNvSpPr txBox="1"/>
          <p:nvPr/>
        </p:nvSpPr>
        <p:spPr>
          <a:xfrm>
            <a:off x="9738360" y="5751576"/>
            <a:ext cx="13825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DECIMAL(5,2)</a:t>
            </a:r>
            <a:endParaRPr lang="en-US" sz="830" dirty="0"/>
          </a:p>
        </p:txBody>
      </p:sp>
      <p:sp>
        <p:nvSpPr>
          <p:cNvPr id="113" name="Text 11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Database Records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rows showing how EVENTS and ROOMS data will be stored (sample values for demonstration).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0607040" cy="365760"/>
          </a:xfrm>
          <a:prstGeom prst="roundRect">
            <a:avLst>
              <a:gd name="adj" fmla="val 15000"/>
            </a:avLst>
          </a:prstGeom>
          <a:solidFill>
            <a:srgbClr val="7B2CB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607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34391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event_name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11175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87959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4743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expected_participants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415272" y="233172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4391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Sprint Hackathon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11175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7959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4743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415272" y="269748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081528"/>
            <a:ext cx="10607040" cy="384048"/>
          </a:xfrm>
          <a:prstGeom prst="rect">
            <a:avLst/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34391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Workshop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11175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7959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64743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415272" y="308152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465576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34391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Fest Meet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175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87959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2026-10-02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64743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415272" y="346557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4434840"/>
            <a:ext cx="10607040" cy="36576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7607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34391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room_name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11175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87959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64743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415272" y="4434840"/>
            <a:ext cx="162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4800600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34391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Hall B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11175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87959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64743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Hall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415272" y="4800600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5184648"/>
            <a:ext cx="10607040" cy="384048"/>
          </a:xfrm>
          <a:prstGeom prst="rect">
            <a:avLst/>
          </a:prstGeom>
          <a:solidFill>
            <a:srgbClr val="F6F8FC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7607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34391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Lab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11175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87959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64743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415272" y="5184648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5568696"/>
            <a:ext cx="10607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7607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34391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Auditorium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11175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87959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64743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Auditorium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9415272" y="5568696"/>
            <a:ext cx="162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4F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86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objectives &amp; scope finalized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950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895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 designed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9300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930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normalized (3NF) schema completed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9651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0965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created in MySQL Workbench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0001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70001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wireframes for key pages designed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03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3035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finalized: React, Node, Express, MySQL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1E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2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286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build-out (home, login, forms, dashboard)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88950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8895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 endpoints for rooms &amp; events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49300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4930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conflict-detection logic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09651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096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frontend forms to backend APIs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70001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7000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sample data for demo walkthroughs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303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test collections for API validation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bookings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32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race conditions when two users book the same room at once.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310128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381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Conflict-detection logic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398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reliable overlap checks across rooms, dates and time ranges.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517136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45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estimation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469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accurate real-time headcounts versus registered numbers.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B2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2311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328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alerts for registration confirmation &amp; schedule changes.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310128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4381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7398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reports on room utilization and event turnout over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4517136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213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4645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Mobile-friendly PWA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4690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responsive web app for on-the-go access.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ROOM OCCUPANCY MANAGEMENT 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&amp; Room Occupancy Management System now has a finalized database design, a normalized 7-table schema, and wireframed React screens. With the REST API and conflict-detection logic underway, the project is on track to deliver a centralized platform that gives students real-time room visibility and equips administrators with the tools to plan, allocate and monitor campus spaces confidently.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39776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4160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React+Node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2026-09-11T06:56:15Z</dcterms:created>
  <dcterms:modified xsi:type="dcterms:W3CDTF">2026-09-11T06:56:15Z</dcterms:modified>
</cp:coreProperties>
</file>